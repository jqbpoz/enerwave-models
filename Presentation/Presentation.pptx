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handoutMasterIdLst>
    <p:handoutMasterId r:id="rId19"/>
  </p:handoutMasterIdLst>
  <p:sldIdLst>
    <p:sldId id="385" r:id="rId5"/>
    <p:sldId id="395" r:id="rId6"/>
    <p:sldId id="386" r:id="rId7"/>
    <p:sldId id="396" r:id="rId8"/>
    <p:sldId id="390" r:id="rId9"/>
    <p:sldId id="394" r:id="rId10"/>
    <p:sldId id="391" r:id="rId11"/>
    <p:sldId id="392" r:id="rId12"/>
    <p:sldId id="393" r:id="rId13"/>
    <p:sldId id="399" r:id="rId14"/>
    <p:sldId id="397" r:id="rId15"/>
    <p:sldId id="398" r:id="rId16"/>
    <p:sldId id="4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3" pos="480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7472A"/>
    <a:srgbClr val="F5F5F5"/>
    <a:srgbClr val="D24726"/>
    <a:srgbClr val="9FCDB3"/>
    <a:srgbClr val="217346"/>
    <a:srgbClr val="000000"/>
    <a:srgbClr val="D9D9D9"/>
    <a:srgbClr val="F3F2F1"/>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3ACBE6-B794-469B-B736-C826D3BAA740}" v="2" dt="2025-03-31T14:29:39.618"/>
  </p1510:revLst>
</p1510:revInfo>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170" autoAdjust="0"/>
  </p:normalViewPr>
  <p:slideViewPr>
    <p:cSldViewPr snapToGrid="0">
      <p:cViewPr varScale="1">
        <p:scale>
          <a:sx n="91" d="100"/>
          <a:sy n="91" d="100"/>
        </p:scale>
        <p:origin x="1560" y="72"/>
      </p:cViewPr>
      <p:guideLst>
        <p:guide orient="horz" pos="2880"/>
        <p:guide pos="480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ujchmura-my.sharepoint.com/personal/aneta_mlynarczyk_student_uj_edu_pl/Documents/Presentation_ColumnClustere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ujchmura-my.sharepoint.com/personal/aneta_mlynarczyk_student_uj_edu_pl/Documents/Presentation_ColumnClustered.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l-PL"/>
        </a:p>
      </c:txPr>
    </c:title>
    <c:autoTitleDeleted val="0"/>
    <c:plotArea>
      <c:layout/>
      <c:barChart>
        <c:barDir val="col"/>
        <c:grouping val="clustered"/>
        <c:varyColors val="0"/>
        <c:ser>
          <c:idx val="0"/>
          <c:order val="0"/>
          <c:tx>
            <c:strRef>
              <c:f>Sheet1!$B$1</c:f>
              <c:strCache>
                <c:ptCount val="1"/>
                <c:pt idx="0">
                  <c:v>RMSE</c:v>
                </c:pt>
              </c:strCache>
            </c:strRef>
          </c:tx>
          <c:spPr>
            <a:solidFill>
              <a:schemeClr val="accent1"/>
            </a:solidFill>
            <a:ln>
              <a:noFill/>
            </a:ln>
            <a:effectLst/>
          </c:spPr>
          <c:invertIfNegative val="0"/>
          <c:cat>
            <c:strRef>
              <c:f>Sheet1!$A$2:$A$5</c:f>
              <c:strCache>
                <c:ptCount val="4"/>
                <c:pt idx="0">
                  <c:v>Sydney</c:v>
                </c:pt>
                <c:pt idx="1">
                  <c:v>Perth</c:v>
                </c:pt>
                <c:pt idx="2">
                  <c:v>Adelide</c:v>
                </c:pt>
                <c:pt idx="3">
                  <c:v>Tasmania</c:v>
                </c:pt>
              </c:strCache>
            </c:strRef>
          </c:cat>
          <c:val>
            <c:numRef>
              <c:f>Sheet1!$B$2:$B$5</c:f>
              <c:numCache>
                <c:formatCode>General</c:formatCode>
                <c:ptCount val="4"/>
                <c:pt idx="0">
                  <c:v>8457.9447999999993</c:v>
                </c:pt>
                <c:pt idx="1">
                  <c:v>20053.61</c:v>
                </c:pt>
                <c:pt idx="2">
                  <c:v>19538.350200000001</c:v>
                </c:pt>
                <c:pt idx="3">
                  <c:v>53196.039400000001</c:v>
                </c:pt>
              </c:numCache>
            </c:numRef>
          </c:val>
          <c:extLst>
            <c:ext xmlns:c16="http://schemas.microsoft.com/office/drawing/2014/chart" uri="{C3380CC4-5D6E-409C-BE32-E72D297353CC}">
              <c16:uniqueId val="{00000000-F3C7-4D2D-BE18-CD15ADF2BAF3}"/>
            </c:ext>
          </c:extLst>
        </c:ser>
        <c:dLbls>
          <c:showLegendKey val="0"/>
          <c:showVal val="0"/>
          <c:showCatName val="0"/>
          <c:showSerName val="0"/>
          <c:showPercent val="0"/>
          <c:showBubbleSize val="0"/>
        </c:dLbls>
        <c:gapWidth val="219"/>
        <c:overlap val="-27"/>
        <c:axId val="424997999"/>
        <c:axId val="425002319"/>
      </c:barChart>
      <c:catAx>
        <c:axId val="4249979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l-PL"/>
          </a:p>
        </c:txPr>
        <c:crossAx val="425002319"/>
        <c:crosses val="autoZero"/>
        <c:auto val="1"/>
        <c:lblAlgn val="ctr"/>
        <c:lblOffset val="100"/>
        <c:noMultiLvlLbl val="0"/>
      </c:catAx>
      <c:valAx>
        <c:axId val="42500231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l-PL"/>
          </a:p>
        </c:txPr>
        <c:crossAx val="4249979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l-PL"/>
        </a:p>
      </c:txPr>
    </c:legend>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l-P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R^2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l-PL"/>
        </a:p>
      </c:txPr>
    </c:title>
    <c:autoTitleDeleted val="0"/>
    <c:plotArea>
      <c:layout/>
      <c:barChart>
        <c:barDir val="col"/>
        <c:grouping val="clustered"/>
        <c:varyColors val="0"/>
        <c:ser>
          <c:idx val="0"/>
          <c:order val="0"/>
          <c:tx>
            <c:strRef>
              <c:f>'https://ujchmura-my.sharepoint.com/personal/aneta_mlynarczyk_student_uj_edu_pl/Documents/[Presentation_ColumnClustered.xlsx]Sheet1'!$L$1</c:f>
              <c:strCache>
                <c:ptCount val="1"/>
                <c:pt idx="0">
                  <c:v>R^2</c:v>
                </c:pt>
              </c:strCache>
            </c:strRef>
          </c:tx>
          <c:spPr>
            <a:solidFill>
              <a:srgbClr val="E87331"/>
            </a:solidFill>
            <a:ln>
              <a:noFill/>
            </a:ln>
            <a:effectLst/>
          </c:spPr>
          <c:invertIfNegative val="0"/>
          <c:cat>
            <c:strRef>
              <c:f>'https://ujchmura-my.sharepoint.com/personal/aneta_mlynarczyk_student_uj_edu_pl/Documents/[Presentation_ColumnClustered.xlsx]Sheet1'!$K$2:$K$5</c:f>
              <c:strCache>
                <c:ptCount val="4"/>
                <c:pt idx="0">
                  <c:v>Sydney </c:v>
                </c:pt>
                <c:pt idx="1">
                  <c:v>Perth </c:v>
                </c:pt>
                <c:pt idx="2">
                  <c:v>Adelide</c:v>
                </c:pt>
                <c:pt idx="3">
                  <c:v>Tasmania</c:v>
                </c:pt>
              </c:strCache>
            </c:strRef>
          </c:cat>
          <c:val>
            <c:numRef>
              <c:f>'https://ujchmura-my.sharepoint.com/personal/aneta_mlynarczyk_student_uj_edu_pl/Documents/[Presentation_ColumnClustered.xlsx]Sheet1'!$L$2:$L$5</c:f>
              <c:numCache>
                <c:formatCode>General</c:formatCode>
                <c:ptCount val="4"/>
                <c:pt idx="0">
                  <c:v>0.86171902193880001</c:v>
                </c:pt>
                <c:pt idx="1">
                  <c:v>0.84891074906037201</c:v>
                </c:pt>
                <c:pt idx="2">
                  <c:v>0.87609418245000104</c:v>
                </c:pt>
                <c:pt idx="3">
                  <c:v>0.75178847000000004</c:v>
                </c:pt>
              </c:numCache>
            </c:numRef>
          </c:val>
          <c:extLst>
            <c:ext xmlns:c16="http://schemas.microsoft.com/office/drawing/2014/chart" uri="{C3380CC4-5D6E-409C-BE32-E72D297353CC}">
              <c16:uniqueId val="{00000000-A32B-4FA1-9450-88DE1C48C022}"/>
            </c:ext>
          </c:extLst>
        </c:ser>
        <c:ser>
          <c:idx val="1"/>
          <c:order val="1"/>
          <c:tx>
            <c:strRef>
              <c:f>'https://ujchmura-my.sharepoint.com/personal/aneta_mlynarczyk_student_uj_edu_pl/Documents/[Presentation_ColumnClustered.xlsx]Sheet1'!$M$1</c:f>
              <c:strCache>
                <c:ptCount val="1"/>
              </c:strCache>
            </c:strRef>
          </c:tx>
          <c:spPr>
            <a:solidFill>
              <a:srgbClr val="FFFFFF"/>
            </a:solidFill>
            <a:ln>
              <a:noFill/>
            </a:ln>
            <a:effectLst/>
          </c:spPr>
          <c:invertIfNegative val="0"/>
          <c:cat>
            <c:strRef>
              <c:f>'https://ujchmura-my.sharepoint.com/personal/aneta_mlynarczyk_student_uj_edu_pl/Documents/[Presentation_ColumnClustered.xlsx]Sheet1'!$K$2:$K$5</c:f>
              <c:strCache>
                <c:ptCount val="4"/>
                <c:pt idx="0">
                  <c:v>Sydney </c:v>
                </c:pt>
                <c:pt idx="1">
                  <c:v>Perth </c:v>
                </c:pt>
                <c:pt idx="2">
                  <c:v>Adelide</c:v>
                </c:pt>
                <c:pt idx="3">
                  <c:v>Tasmania</c:v>
                </c:pt>
              </c:strCache>
            </c:strRef>
          </c:cat>
          <c:val>
            <c:numRef>
              <c:f>'https://ujchmura-my.sharepoint.com/personal/aneta_mlynarczyk_student_uj_edu_pl/Documents/[Presentation_ColumnClustered.xlsx]Sheet1'!$M$2:$M$5</c:f>
              <c:numCache>
                <c:formatCode>General</c:formatCode>
                <c:ptCount val="4"/>
              </c:numCache>
            </c:numRef>
          </c:val>
          <c:extLst>
            <c:ext xmlns:c16="http://schemas.microsoft.com/office/drawing/2014/chart" uri="{C3380CC4-5D6E-409C-BE32-E72D297353CC}">
              <c16:uniqueId val="{00000001-A32B-4FA1-9450-88DE1C48C022}"/>
            </c:ext>
          </c:extLst>
        </c:ser>
        <c:dLbls>
          <c:showLegendKey val="0"/>
          <c:showVal val="0"/>
          <c:showCatName val="0"/>
          <c:showSerName val="0"/>
          <c:showPercent val="0"/>
          <c:showBubbleSize val="0"/>
        </c:dLbls>
        <c:gapWidth val="219"/>
        <c:overlap val="-27"/>
        <c:axId val="38672391"/>
        <c:axId val="38674439"/>
      </c:barChart>
      <c:catAx>
        <c:axId val="38672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38674439"/>
        <c:crosses val="autoZero"/>
        <c:auto val="1"/>
        <c:lblAlgn val="ctr"/>
        <c:lblOffset val="100"/>
        <c:noMultiLvlLbl val="0"/>
      </c:catAx>
      <c:valAx>
        <c:axId val="386744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crossAx val="386723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l-PL"/>
        </a:p>
      </c:txPr>
    </c:legend>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3/31/2025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54.351"/>
    </inkml:context>
    <inkml:brush xml:id="br0">
      <inkml:brushProperty name="width" value="0.35" units="cm"/>
      <inkml:brushProperty name="height" value="0.35" units="cm"/>
      <inkml:brushProperty name="color" value="#FFFFFF"/>
    </inkml:brush>
  </inkml:definitions>
  <inkml:trace contextRef="#ctx0" brushRef="#br0">3217 159 24575,'-7'6'0,"0"0"0,-1-1 0,0 0 0,0 0 0,0-1 0,-14 5 0,-7 4 0,-310 152 0,232-120 0,-144 38 0,-406 70 0,284-71 0,168-37 0,-2-8 0,-261 12 0,284-27 0,133-13 0,0-2 0,-76-1 0,122-6 0,1 0 0,0 0 0,0-1 0,0 1 0,0-1 0,0 0 0,0 0 0,0-1 0,0 1 0,0-1 0,1 0 0,-1 0 0,0 0 0,1 0 0,0-1 0,0 0 0,-1 1 0,-3-6 0,4 3 0,0 0 0,0 0 0,0 0 0,1 0 0,0 0 0,0-1 0,1 1 0,-1-1 0,1 1 0,0-1 0,1 1 0,-1-8 0,2-7 0,0 1 0,1-1 0,2 1 0,0-1 0,0 1 0,14-33 0,8-10 0,2 1 0,3 1 0,3 2 0,61-81 0,-52 85 0,4 2 0,69-62 0,-77 78-1365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2:01.268"/>
    </inkml:context>
    <inkml:brush xml:id="br0">
      <inkml:brushProperty name="width" value="0.35" units="cm"/>
      <inkml:brushProperty name="height" value="0.35" units="cm"/>
      <inkml:brushProperty name="color" value="#FFFFFF"/>
    </inkml:brush>
  </inkml:definitions>
  <inkml:trace contextRef="#ctx0" brushRef="#br0">0 271 24575,'9'-8'0,"0"0"0,1 0 0,-1 1 0,1 0 0,1 1 0,-1 0 0,1 1 0,0 0 0,1 1 0,14-4 0,9 1 0,-1 1 0,43-1 0,5-1 0,363-24 0,4 30 0,-224 3 0,-189-3 0,0-1 0,60-15 0,-53 9 0,55-4 0,319 9 0,-217 7 0,570-3 0,-666-5 0,198-36 0,-200 23 0,203-9 0,-103 29-1365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0.785"/>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6.29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2.574"/>
    </inkml:context>
    <inkml:brush xml:id="br0">
      <inkml:brushProperty name="width" value="0.035" units="cm"/>
      <inkml:brushProperty name="height" value="0.035" units="cm"/>
      <inkml:brushProperty name="color" value="#FFFFFF"/>
    </inkml:brush>
  </inkml:definitions>
  <inkml:trace contextRef="#ctx0" brushRef="#br0">645 2 24575,'76'-1'0,"101"3"0,-148 0 0,0 2 0,0 1 0,0 1 0,28 10 0,612 267-86,-396-159-790,846 320-1086,-730-297 929,988 360-1121,-754-315 2107,-275-90 809,274 55 3498,-579-150-3881,1-1-1,84 0 1,-125-6-379,0 0 0,-1 0 0,1 0 0,0 0 0,0-1 0,-1 1 0,1-1 0,0 0 0,-1 0 0,1 0 0,-1 0 0,1 0 0,-1-1 0,0 1 0,1-1 0,-1 1 0,0-1 0,0 0 0,0 0 0,0 0 0,0 0 0,-1 0 0,3-3 0,-3 1 0,0 1 0,0-1 0,0 0 0,0 0 0,-1 0 0,1 0 0,-1 0 0,0 0 0,0 0 0,-1 0 0,1 0 0,-1 0 0,0 0 0,0 0 0,-2-5 0,-6-14 0,0 1 0,-2 0 0,0 1 0,-2 0 0,0 0 0,-26-29 0,-108-103 0,116 123 0,-1 2 0,-2 2 0,-1 1 0,0 1 0,-2 2 0,-1 2 0,0 1 0,-2 2 0,0 2 0,0 2 0,-1 1 0,-1 2 0,-48-5 0,-543-5-180,324 20-921,-143-25 973,-543-99 0,174-62-655,416 86 725,300 80 895,-201-10-1,204 29-453,-138 14-1,189-6-394,0 2 0,0 3 0,0 1 0,-75 31 0,23 5 12,3 5 0,1 3 0,-95 76 0,117-72 0,-120 126 0,116-106 0,3 1 0,-23 23 0,-80 48-1365,151-125-5461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2.958"/>
    </inkml:context>
    <inkml:brush xml:id="br0">
      <inkml:brushProperty name="width" value="0.035" units="cm"/>
      <inkml:brushProperty name="height" value="0.035" units="cm"/>
      <inkml:brushProperty name="color" value="#FFFFFF"/>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8.495"/>
    </inkml:context>
    <inkml:brush xml:id="br0">
      <inkml:brushProperty name="width" value="0.35" units="cm"/>
      <inkml:brushProperty name="height" value="0.35" units="cm"/>
      <inkml:brushProperty name="color" value="#FFFFFF"/>
    </inkml:brush>
  </inkml:definitions>
  <inkml:trace contextRef="#ctx0" brushRef="#br0">0 141 24575,'32'2'0,"0"0"0,0 2 0,0 1 0,55 17 0,117 56 0,-156-59 0,676 311-543,-452-182 543,540 261 0,-483-277 0,6-14 0,437 92 0,-155-94 0,-391-87 226,276-1 1,-407-27-139,205-6-86,-260 2-2,-1-1 0,1-3 0,-1-1 0,0-2 0,-1-1 0,64-29 0,-92 36 0,-1-2 0,0 1 0,0-1 0,0 0 0,-1-1 0,0 0 0,0 0 0,0-1 0,-1 0 0,10-14 0,-11 10 0,0 1 0,0 0 0,-1-1 0,-1 0 0,0 0 0,-1-1 0,0 1 0,2-23 0,0-10 0,-3 1 0,-1-1 0,-2 1 0,-2-1 0,-13-65 0,10 86 0,0 0 0,-2 0 0,0 0 0,-2 1 0,-1 0 0,-1 1 0,0 0 0,-2 1 0,0 1 0,-2 0 0,-24-25 0,5 12 0,-1 1 0,-2 1 0,-1 2 0,-2 2 0,0 2 0,-2 2 0,0 1 0,-2 3 0,-69-22 0,-10 9-240,-1 5 0,-142-11-1,-258 4-480,-769 29 1759,599 11-634,641-4-404,1 2 0,-57 11 0,-102 32 0,52-11 0,-22-4 0,-2-8 0,-303 0 0,382-23 0,-3 0 0,-148-15 0,238 12 0,1-1 0,-1-1 0,1-1 0,-1 0 0,1-1 0,-25-13 0,37 17 0,0-1 0,1 0 0,-1-1 0,0 1 0,1-1 0,0 0 0,0 0 0,0 0 0,0 0 0,1-1 0,0 0 0,0 0 0,0 0 0,0 0 0,1 0 0,0 0 0,0 0 0,0-1 0,1 1 0,-1-1 0,1 0 0,1 1 0,-1-1 0,1-10 0,1 7 0,1-1 0,0 0 0,1 0 0,-1 1 0,2-1 0,-1 1 0,2 0 0,-1 0 0,1 0 0,0 1 0,1-1 0,10-11 0,0 2 0,1 0 0,1 1 0,1 1 0,21-15 0,4 2 0,2 2 0,0 2 0,1 3 0,2 1 0,0 2 0,1 3 0,53-11 0,-25 12 0,0 4 0,0 3 0,0 3 0,86 7 0,-60 8 0,-1 5 0,101 28 0,37 7 0,575 47 0,-612-83 0,217 25 0,-201-3 0,-77-11 0,254 13 0,242-40 307,-193-1-1979,-354 3-5154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9.040"/>
    </inkml:context>
    <inkml:brush xml:id="br0">
      <inkml:brushProperty name="width" value="0.35" units="cm"/>
      <inkml:brushProperty name="height" value="0.35" units="cm"/>
      <inkml:brushProperty name="color" value="#FFFFFF"/>
    </inkml:brush>
  </inkml:definitions>
  <inkml:trace contextRef="#ctx0" brushRef="#br0">2004 1 24575,'-1041'0'0,"970"0"0,-1 4 0,-93 18 0,122-13 0,0 1 0,1 3 0,0 1 0,1 2 0,-40 23 0,-3 11-278,3 5 0,-91 78 0,147-113-253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1:49.924"/>
    </inkml:context>
    <inkml:brush xml:id="br0">
      <inkml:brushProperty name="width" value="0.35" units="cm"/>
      <inkml:brushProperty name="height" value="0.35" units="cm"/>
      <inkml:brushProperty name="color" value="#FFFFFF"/>
    </inkml:brush>
  </inkml:definitions>
  <inkml:trace contextRef="#ctx0" brushRef="#br0">1728 329 24575,'5'-1'0,"-1"1"0,1-1 0,0-1 0,0 1 0,-1 0 0,1-1 0,-1 0 0,6-3 0,13-6 0,45-9 0,1 3 0,130-14 0,-48 9 0,219-51 0,234-37 0,-443 97 0,234 10 0,-214 6 0,740-3 0,-915 0 0,12 1 0,1-1 0,-1-1 0,0 0 0,0-2 0,0 0 0,21-7 0,-159 40 0,-919 200-509,487-120 132,9 26 203,511-126 174,-847 284 0,287-36 530,24 54 0,112-7-530,313-208 0,140-95 0,-7 5 0,0 0 0,-1-1 0,0 0 0,-20 8 0,29-14 0,0 1 0,0 0 0,0-1 0,0 1 0,0-1 0,0 0 0,0 0 0,0 0 0,0 0 0,0 0 0,0 0 0,0 0 0,0-1 0,0 1 0,0-1 0,0 1 0,0-1 0,0 0 0,1 0 0,-1 1 0,0-1 0,0-1 0,1 1 0,-1 0 0,1 0 0,-1-1 0,1 1 0,-1-1 0,1 1 0,0-1 0,0 1 0,0-1 0,0 0 0,0 0 0,0 0 0,-1-2 0,1 0 0,-1 0 0,1 0 0,0 0 0,0 0 0,1 0 0,-1 0 0,1 0 0,0 0 0,0-1 0,0 1 0,1 0 0,-1 0 0,1 0 0,2-6 0,-1 3 0,1 0 0,1 0 0,-1 1 0,1-1 0,0 1 0,1-1 0,6-7 0,8-5 0,1 1 0,0 1 0,41-26 0,322-166-577,-265 150 311,139-72-67,606-282-795,-763 374-4759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6T18:22:12.057"/>
    </inkml:context>
    <inkml:brush xml:id="br0">
      <inkml:brushProperty name="width" value="0.35" units="cm"/>
      <inkml:brushProperty name="height" value="0.35" units="cm"/>
      <inkml:brushProperty name="color" value="#FFFFFF"/>
    </inkml:brush>
  </inkml:definitions>
  <inkml:trace contextRef="#ctx0" brushRef="#br0">653 92 24575,'-652'0'0,"727"-1"0,119-16 0,-82 0 0,121-21 0,-153 27 0,1 4 0,157 7 0,-105 2 0,801-2-1365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3/31/2025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In this presentation, I’ll talk about how we can use machine learning to improve wave energy converters, or WECs</a:t>
            </a:r>
            <a:endParaRPr lang="pl-PL" dirty="0"/>
          </a:p>
        </p:txBody>
      </p:sp>
      <p:sp>
        <p:nvSpPr>
          <p:cNvPr id="4" name="Symbol zastępczy numeru slajdu 3"/>
          <p:cNvSpPr>
            <a:spLocks noGrp="1"/>
          </p:cNvSpPr>
          <p:nvPr>
            <p:ph type="sldNum" sz="quarter" idx="5"/>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3766506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This data set consists of positions and absorbed power outputs of wave energy converters (WECs) in four real wave scenarios from the southern coast of Australia</a:t>
            </a:r>
            <a:endParaRPr lang="pl-PL" dirty="0"/>
          </a:p>
        </p:txBody>
      </p:sp>
      <p:sp>
        <p:nvSpPr>
          <p:cNvPr id="4" name="Symbol zastępczy numeru slajdu 3"/>
          <p:cNvSpPr>
            <a:spLocks noGrp="1"/>
          </p:cNvSpPr>
          <p:nvPr>
            <p:ph type="sldNum" sz="quarter" idx="5"/>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753466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The goal of this project was to study data collected from WECs, which generate renewable energy from ocean waves, and use advanced predictive models to optimize their placement for maximum energy output. This presentation integrates both technical insights and potential real-world applications.</a:t>
            </a:r>
            <a:endParaRPr lang="pl-PL" dirty="0"/>
          </a:p>
          <a:p>
            <a:endParaRPr lang="en-US" dirty="0">
              <a:ea typeface="Calibri"/>
              <a:cs typeface="Calibri"/>
            </a:endParaRPr>
          </a:p>
        </p:txBody>
      </p:sp>
      <p:sp>
        <p:nvSpPr>
          <p:cNvPr id="4" name="Symbol zastępczy numeru slajdu 3"/>
          <p:cNvSpPr>
            <a:spLocks noGrp="1"/>
          </p:cNvSpPr>
          <p:nvPr>
            <p:ph type="sldNum" sz="quarter" idx="5"/>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3536053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Removing null values ​​(missing data):</a:t>
            </a:r>
          </a:p>
          <a:p>
            <a:r>
              <a:rPr lang="en-US" dirty="0"/>
              <a:t>Preventing computational errors: Most machine learning algorithms cannot handle missing values, which can lead to errors during model training.</a:t>
            </a:r>
            <a:endParaRPr lang="pl-PL" dirty="0"/>
          </a:p>
          <a:p>
            <a:endParaRPr lang="pl-PL" dirty="0"/>
          </a:p>
          <a:p>
            <a:r>
              <a:rPr lang="en-US" dirty="0"/>
              <a:t>. Outliers can significantly distort the results of models sensitive to extreme values, such as linear </a:t>
            </a:r>
            <a:r>
              <a:rPr lang="en-US" dirty="0" err="1"/>
              <a:t>regressio</a:t>
            </a:r>
            <a:r>
              <a:rPr lang="pl-PL" dirty="0"/>
              <a:t>n</a:t>
            </a:r>
            <a:r>
              <a:rPr lang="en-US" dirty="0"/>
              <a:t>. Removing them can improve the overall performance of the model.</a:t>
            </a:r>
            <a:endParaRPr lang="pl-PL" dirty="0"/>
          </a:p>
        </p:txBody>
      </p:sp>
      <p:sp>
        <p:nvSpPr>
          <p:cNvPr id="4" name="Symbol zastępczy numeru slajdu 3"/>
          <p:cNvSpPr>
            <a:spLocks noGrp="1"/>
          </p:cNvSpPr>
          <p:nvPr>
            <p:ph type="sldNum" sz="quarter" idx="5"/>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1950124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 This is equivalent to strong linear dependencies between P1-Pn and </a:t>
            </a:r>
            <a:r>
              <a:rPr lang="en-US" dirty="0" err="1"/>
              <a:t>P_total</a:t>
            </a:r>
            <a:endParaRPr lang="pl-PL" dirty="0"/>
          </a:p>
        </p:txBody>
      </p:sp>
      <p:sp>
        <p:nvSpPr>
          <p:cNvPr id="4" name="Symbol zastępczy numeru slajdu 3"/>
          <p:cNvSpPr>
            <a:spLocks noGrp="1"/>
          </p:cNvSpPr>
          <p:nvPr>
            <p:ph type="sldNum" sz="quarter" idx="5"/>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640916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dirty="0"/>
              <a:t>we can therefore see that for Sydney the strong correlation starts at 0.25 and for </a:t>
            </a:r>
            <a:r>
              <a:rPr lang="en-US" dirty="0" err="1"/>
              <a:t>Adelide</a:t>
            </a:r>
            <a:r>
              <a:rPr lang="en-US" dirty="0"/>
              <a:t> already at 0.20. For Tasmania and </a:t>
            </a:r>
            <a:r>
              <a:rPr lang="en-US" dirty="0" err="1"/>
              <a:t>Phern</a:t>
            </a:r>
            <a:r>
              <a:rPr lang="en-US" dirty="0"/>
              <a:t> it works practically identically as for </a:t>
            </a:r>
            <a:r>
              <a:rPr lang="en-US" dirty="0" err="1"/>
              <a:t>Adelide</a:t>
            </a:r>
            <a:endParaRPr lang="en-US" dirty="0">
              <a:cs typeface="Calibri"/>
            </a:endParaRPr>
          </a:p>
          <a:p>
            <a:r>
              <a:rPr lang="en-US" dirty="0"/>
              <a:t>values of 1.0 are not significant because they show the values of the diagonals</a:t>
            </a:r>
          </a:p>
        </p:txBody>
      </p:sp>
      <p:sp>
        <p:nvSpPr>
          <p:cNvPr id="4" name="Symbol zastępczy numeru slajdu 3"/>
          <p:cNvSpPr>
            <a:spLocks noGrp="1"/>
          </p:cNvSpPr>
          <p:nvPr>
            <p:ph type="sldNum" sz="quarter" idx="5"/>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1791148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en-US"/>
              <a:t>This outcome emphasizes the importance of matching the model to the type and complexity of the data. While simpler models work well for linear relationships, more advanced algorithms can capture intricate patterns and dependencies within the data.</a:t>
            </a:r>
            <a:endParaRPr lang="pl-PL"/>
          </a:p>
        </p:txBody>
      </p:sp>
      <p:sp>
        <p:nvSpPr>
          <p:cNvPr id="4" name="Symbol zastępczy numeru slajdu 3"/>
          <p:cNvSpPr>
            <a:spLocks noGrp="1"/>
          </p:cNvSpPr>
          <p:nvPr>
            <p:ph type="sldNum" sz="quarter" idx="5"/>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1707744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(coefficient of determination) measures how much of the variance in the dependent variable (y) is explained by the independent variables (X) in the model</a:t>
            </a:r>
            <a:r>
              <a:rPr lang="pl-PL"/>
              <a:t> , </a:t>
            </a:r>
            <a:r>
              <a:rPr lang="en-US"/>
              <a:t>0.8: Means that the model explains 80% of the variance in the data, suggesting that the model has a good fit, although it may require further optimization.</a:t>
            </a:r>
            <a:endParaRPr lang="pl-PL"/>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a:p>
        </p:txBody>
      </p:sp>
    </p:spTree>
    <p:extLst>
      <p:ext uri="{BB962C8B-B14F-4D97-AF65-F5344CB8AC3E}">
        <p14:creationId xmlns:p14="http://schemas.microsoft.com/office/powerpoint/2010/main" val="788566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highest </a:t>
            </a:r>
            <a:r>
              <a:rPr lang="en-US" err="1"/>
              <a:t>rmse</a:t>
            </a:r>
            <a:r>
              <a:rPr lang="en-US"/>
              <a:t> in Tasmania is due to the fact that it had greater total power, which resulted in greater errors</a:t>
            </a:r>
            <a:endParaRPr lang="pl-PL"/>
          </a:p>
        </p:txBody>
      </p:sp>
      <p:sp>
        <p:nvSpPr>
          <p:cNvPr id="4" name="Slide Number Placeholder 3"/>
          <p:cNvSpPr>
            <a:spLocks noGrp="1"/>
          </p:cNvSpPr>
          <p:nvPr>
            <p:ph type="sldNum" sz="quarter" idx="5"/>
          </p:nvPr>
        </p:nvSpPr>
        <p:spPr/>
        <p:txBody>
          <a:bodyPr/>
          <a:lstStyle/>
          <a:p>
            <a:fld id="{DF61EA0F-A667-4B49-8422-0062BC55E249}" type="slidenum">
              <a:rPr lang="en-US" smtClean="0"/>
              <a:t>12</a:t>
            </a:fld>
            <a:endParaRPr lang="en-US"/>
          </a:p>
        </p:txBody>
      </p:sp>
    </p:spTree>
    <p:extLst>
      <p:ext uri="{BB962C8B-B14F-4D97-AF65-F5344CB8AC3E}">
        <p14:creationId xmlns:p14="http://schemas.microsoft.com/office/powerpoint/2010/main" val="3852225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F1F1F"/>
                </a:solidFill>
                <a:effectLst/>
                <a:latin typeface="Arial" panose="020B0604020202020204" pitchFamily="34" charset="0"/>
              </a:rPr>
              <a:t>Better generalization: Removing outliers allows the model to focus on patterns that are representative of the majority of the data, which translates into better predictions on new data</a:t>
            </a:r>
            <a:endParaRPr lang="pl-PL" b="0" i="0">
              <a:solidFill>
                <a:srgbClr val="1F1F1F"/>
              </a:solidFill>
              <a:effectLst/>
              <a:latin typeface="Arial" panose="020B0604020202020204" pitchFamily="34" charset="0"/>
            </a:endParaRPr>
          </a:p>
          <a:p>
            <a:pPr algn="l"/>
            <a:r>
              <a:rPr lang="en-US" b="0" i="0">
                <a:solidFill>
                  <a:srgbClr val="1F1F1F"/>
                </a:solidFill>
                <a:effectLst/>
                <a:latin typeface="Arial" panose="020B0604020202020204" pitchFamily="34" charset="0"/>
              </a:rPr>
              <a:t>Linear regression, as expected, performed the worst. Its R^2 value is around 13%, which means it explains only a small part of the variance in the data. This is a clear indication that the problem involves non-linear relationships, which linear regression cannot effectively capture.</a:t>
            </a:r>
          </a:p>
          <a:p>
            <a:pPr algn="l"/>
            <a:endParaRPr lang="en-US" b="0" i="0">
              <a:solidFill>
                <a:srgbClr val="1F1F1F"/>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a:p>
        </p:txBody>
      </p:sp>
    </p:spTree>
    <p:extLst>
      <p:ext uri="{BB962C8B-B14F-4D97-AF65-F5344CB8AC3E}">
        <p14:creationId xmlns:p14="http://schemas.microsoft.com/office/powerpoint/2010/main" val="1337697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48056" y="2551176"/>
            <a:ext cx="9922447" cy="914400"/>
          </a:xfrm>
        </p:spPr>
        <p:txBody>
          <a:bodyPr/>
          <a:lstStyle>
            <a:lvl1pPr>
              <a:defRPr sz="5400" b="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B107D0E1-EAED-8E08-24BA-8F930364BA96}"/>
              </a:ext>
            </a:extLst>
          </p:cNvPr>
          <p:cNvSpPr>
            <a:spLocks noGrp="1"/>
          </p:cNvSpPr>
          <p:nvPr>
            <p:ph type="body" sz="quarter" idx="10"/>
          </p:nvPr>
        </p:nvSpPr>
        <p:spPr>
          <a:xfrm>
            <a:off x="448056" y="3575304"/>
            <a:ext cx="9921943" cy="862012"/>
          </a:xfrm>
        </p:spPr>
        <p:txBody>
          <a:bodyPr>
            <a:normAutofit/>
          </a:bodyPr>
          <a:lstStyle>
            <a:lvl1pPr>
              <a:defRPr sz="2400">
                <a:solidFill>
                  <a:schemeClr val="accent2"/>
                </a:solidFill>
              </a:defRPr>
            </a:lvl1pPr>
          </a:lstStyle>
          <a:p>
            <a:pPr lvl="0"/>
            <a:r>
              <a:rPr lang="en-US"/>
              <a:t>Click to edit Master text styles</a:t>
            </a:r>
          </a:p>
        </p:txBody>
      </p:sp>
      <p:pic>
        <p:nvPicPr>
          <p:cNvPr id="6" name="Picture 5" descr="Graphical user interface&#10;&#10;Description automatically generated">
            <a:extLst>
              <a:ext uri="{FF2B5EF4-FFF2-40B4-BE49-F238E27FC236}">
                <a16:creationId xmlns:a16="http://schemas.microsoft.com/office/drawing/2014/main" id="{976CD4A8-8154-0AA2-A2AB-9AD82CD7406C}"/>
              </a:ext>
            </a:extLst>
          </p:cNvPr>
          <p:cNvPicPr>
            <a:picLocks noChangeAspect="1"/>
          </p:cNvPicPr>
          <p:nvPr userDrawn="1"/>
        </p:nvPicPr>
        <p:blipFill>
          <a:blip r:embed="rId2"/>
          <a:stretch>
            <a:fillRect/>
          </a:stretch>
        </p:blipFill>
        <p:spPr>
          <a:xfrm>
            <a:off x="249483" y="128907"/>
            <a:ext cx="2369315" cy="867807"/>
          </a:xfrm>
          <a:prstGeom prst="rect">
            <a:avLst/>
          </a:prstGeom>
        </p:spPr>
      </p:pic>
    </p:spTree>
    <p:extLst>
      <p:ext uri="{BB962C8B-B14F-4D97-AF65-F5344CB8AC3E}">
        <p14:creationId xmlns:p14="http://schemas.microsoft.com/office/powerpoint/2010/main" val="17185494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3/31/2025</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11210543"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81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3/31/2025</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904E943F-C687-D3B3-4E36-65D69E3E2F0C}"/>
              </a:ext>
            </a:extLst>
          </p:cNvPr>
          <p:cNvSpPr>
            <a:spLocks noGrp="1"/>
          </p:cNvSpPr>
          <p:nvPr>
            <p:ph sz="quarter" idx="14"/>
          </p:nvPr>
        </p:nvSpPr>
        <p:spPr>
          <a:xfrm>
            <a:off x="629869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321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sh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3/31/2025</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463040"/>
            <a:ext cx="5330952" cy="4601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070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fld id="{8BEEBAAA-29B5-4AF5-BC5F-7E580C29002D}" type="datetimeFigureOut">
              <a:rPr lang="en-US" smtClean="0"/>
              <a:pPr/>
              <a:t>3/31/2025</a:t>
            </a:fld>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29238323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500" y="430609"/>
            <a:ext cx="11210544" cy="557784"/>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p:cNvSpPr>
            <a:spLocks noGrp="1"/>
          </p:cNvSpPr>
          <p:nvPr>
            <p:ph type="body" idx="1"/>
          </p:nvPr>
        </p:nvSpPr>
        <p:spPr>
          <a:xfrm>
            <a:off x="448056" y="1447800"/>
            <a:ext cx="11210543"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19099" y="6427391"/>
            <a:ext cx="3276600" cy="141686"/>
          </a:xfrm>
          <a:prstGeom prst="rect">
            <a:avLst/>
          </a:prstGeom>
        </p:spPr>
        <p:txBody>
          <a:bodyPr vert="horz" lIns="91440" tIns="45720" rIns="91440" bIns="45720" rtlCol="0" anchor="ctr"/>
          <a:lstStyle>
            <a:lvl1pPr algn="l">
              <a:defRPr sz="800" baseline="0">
                <a:solidFill>
                  <a:schemeClr val="tx1">
                    <a:lumMod val="65000"/>
                    <a:lumOff val="35000"/>
                  </a:schemeClr>
                </a:solidFill>
              </a:defRPr>
            </a:lvl1pPr>
          </a:lstStyle>
          <a:p>
            <a:fld id="{8BEEBAAA-29B5-4AF5-BC5F-7E580C29002D}" type="datetimeFigureOut">
              <a:rPr lang="en-US" smtClean="0"/>
              <a:pPr/>
              <a:t>3/31/2025</a:t>
            </a:fld>
            <a:endParaRPr lang="en-US"/>
          </a:p>
        </p:txBody>
      </p:sp>
      <p:sp>
        <p:nvSpPr>
          <p:cNvPr id="5" name="Footer Placeholder 4"/>
          <p:cNvSpPr>
            <a:spLocks noGrp="1"/>
          </p:cNvSpPr>
          <p:nvPr>
            <p:ph type="ftr" sz="quarter" idx="3"/>
          </p:nvPr>
        </p:nvSpPr>
        <p:spPr>
          <a:xfrm>
            <a:off x="4648200" y="6427391"/>
            <a:ext cx="2895600" cy="141686"/>
          </a:xfrm>
          <a:prstGeom prst="rect">
            <a:avLst/>
          </a:prstGeom>
        </p:spPr>
        <p:txBody>
          <a:bodyPr vert="horz" lIns="91440" tIns="45720" rIns="91440" bIns="45720" rtlCol="0" anchor="ctr"/>
          <a:lstStyle>
            <a:lvl1pPr algn="ctr">
              <a:defRPr sz="8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53042" y="6427391"/>
            <a:ext cx="3276600" cy="141686"/>
          </a:xfrm>
          <a:prstGeom prst="rect">
            <a:avLst/>
          </a:prstGeom>
        </p:spPr>
        <p:txBody>
          <a:bodyPr vert="horz" lIns="91440" tIns="45720" rIns="91440" bIns="45720" rtlCol="0" anchor="ctr"/>
          <a:lstStyle>
            <a:lvl1pPr algn="r">
              <a:defRPr sz="800" baseline="0">
                <a:solidFill>
                  <a:schemeClr val="tx1">
                    <a:lumMod val="65000"/>
                    <a:lumOff val="35000"/>
                  </a:schemeClr>
                </a:solidFill>
              </a:defRPr>
            </a:lvl1pPr>
          </a:lstStyle>
          <a:p>
            <a:fld id="{9860EDB8-5305-433F-BE41-D7A86D811DB3}" type="slidenum">
              <a:rPr lang="en-US" smtClean="0"/>
              <a:pPr/>
              <a:t>‹#›</a:t>
            </a:fld>
            <a:endParaRPr lang="en-US"/>
          </a:p>
        </p:txBody>
      </p:sp>
      <p:cxnSp>
        <p:nvCxnSpPr>
          <p:cNvPr id="7" name="Straight Connector 6">
            <a:extLst>
              <a:ext uri="{FF2B5EF4-FFF2-40B4-BE49-F238E27FC236}">
                <a16:creationId xmlns:a16="http://schemas.microsoft.com/office/drawing/2014/main" id="{D8F39A1B-8AD1-2C34-AB40-00704468E828}"/>
              </a:ext>
            </a:extLst>
          </p:cNvPr>
          <p:cNvCxnSpPr>
            <a:cxnSpLocks/>
          </p:cNvCxnSpPr>
          <p:nvPr userDrawn="1"/>
        </p:nvCxnSpPr>
        <p:spPr>
          <a:xfrm>
            <a:off x="533400" y="1104900"/>
            <a:ext cx="11119104"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Lst>
  <p:txStyles>
    <p:titleStyle>
      <a:lvl1pPr algn="l" defTabSz="914400" rtl="0" eaLnBrk="1" latinLnBrk="0" hangingPunct="1">
        <a:spcBef>
          <a:spcPct val="0"/>
        </a:spcBef>
        <a:buNone/>
        <a:defRPr sz="2800" kern="1200">
          <a:solidFill>
            <a:schemeClr val="bg2">
              <a:lumMod val="25000"/>
            </a:schemeClr>
          </a:solidFill>
          <a:latin typeface="+mn-lt"/>
          <a:ea typeface="+mj-ea"/>
          <a:cs typeface="+mj-cs"/>
        </a:defRPr>
      </a:lvl1pPr>
    </p:titleStyle>
    <p:bodyStyle>
      <a:lvl1pPr marL="0" indent="0" algn="l" defTabSz="914400" rtl="0" eaLnBrk="1" latinLnBrk="0" hangingPunct="1">
        <a:lnSpc>
          <a:spcPct val="100000"/>
        </a:lnSpc>
        <a:spcBef>
          <a:spcPts val="1000"/>
        </a:spcBef>
        <a:spcAft>
          <a:spcPts val="1200"/>
        </a:spcAft>
        <a:buFontTx/>
        <a:buNone/>
        <a:defRPr lang="en-US" sz="1600" kern="1200" dirty="0">
          <a:solidFill>
            <a:schemeClr val="bg2">
              <a:lumMod val="25000"/>
            </a:schemeClr>
          </a:solidFill>
          <a:latin typeface="+mn-lt"/>
          <a:ea typeface="+mn-ea"/>
          <a:cs typeface="+mn-cs"/>
        </a:defRPr>
      </a:lvl1pPr>
      <a:lvl2pPr marL="283464" indent="-283464"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2pPr>
      <a:lvl3pPr marL="6858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a:solidFill>
            <a:schemeClr val="bg2">
              <a:lumMod val="25000"/>
            </a:schemeClr>
          </a:solidFill>
          <a:latin typeface="+mn-lt"/>
          <a:ea typeface="+mn-ea"/>
          <a:cs typeface="+mn-cs"/>
        </a:defRPr>
      </a:lvl3pPr>
      <a:lvl4pPr marL="11430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4pPr>
      <a:lvl5pPr marL="1600200" indent="-228600" algn="l" defTabSz="914400" rtl="0" eaLnBrk="1" latinLnBrk="0" hangingPunct="1">
        <a:lnSpc>
          <a:spcPct val="100000"/>
        </a:lnSpc>
        <a:spcBef>
          <a:spcPts val="1000"/>
        </a:spcBef>
        <a:spcAft>
          <a:spcPts val="1200"/>
        </a:spcAft>
        <a:buFont typeface="Arial" panose="020B0604020202020204" pitchFamily="34" charset="0"/>
        <a:buChar char="•"/>
        <a:defRPr lang="en-US" sz="1600" kern="1200" dirty="0" smtClean="0">
          <a:solidFill>
            <a:schemeClr val="bg2">
              <a:lumMod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84" userDrawn="1">
          <p15:clr>
            <a:srgbClr val="F26B43"/>
          </p15:clr>
        </p15:guide>
        <p15:guide id="2" pos="336" userDrawn="1">
          <p15:clr>
            <a:srgbClr val="F26B43"/>
          </p15:clr>
        </p15:guide>
        <p15:guide id="3" pos="7320" userDrawn="1">
          <p15:clr>
            <a:srgbClr val="F26B43"/>
          </p15:clr>
        </p15:guide>
        <p15:guide id="4" orient="horz" pos="912" userDrawn="1">
          <p15:clr>
            <a:srgbClr val="F26B43"/>
          </p15:clr>
        </p15:guide>
        <p15:guide id="5" orient="horz" pos="264" userDrawn="1">
          <p15:clr>
            <a:srgbClr val="F26B43"/>
          </p15:clr>
        </p15:guide>
        <p15:guide id="6" orient="horz" pos="696" userDrawn="1">
          <p15:clr>
            <a:srgbClr val="F26B43"/>
          </p15:clr>
        </p15:guide>
        <p15:guide id="7" pos="369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6.xml"/><Relationship Id="rId18" Type="http://schemas.openxmlformats.org/officeDocument/2006/relationships/customXml" Target="../ink/ink9.xml"/><Relationship Id="rId3" Type="http://schemas.openxmlformats.org/officeDocument/2006/relationships/customXml" Target="../ink/ink1.xml"/><Relationship Id="rId21" Type="http://schemas.openxmlformats.org/officeDocument/2006/relationships/image" Target="../media/image10.png"/><Relationship Id="rId7" Type="http://schemas.openxmlformats.org/officeDocument/2006/relationships/customXml" Target="../ink/ink3.xml"/><Relationship Id="rId12" Type="http://schemas.openxmlformats.org/officeDocument/2006/relationships/image" Target="../media/image6.png"/><Relationship Id="rId17" Type="http://schemas.openxmlformats.org/officeDocument/2006/relationships/image" Target="../media/image8.png"/><Relationship Id="rId2" Type="http://schemas.openxmlformats.org/officeDocument/2006/relationships/notesSlide" Target="../notesSlides/notesSlide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7.png"/><Relationship Id="rId10" Type="http://schemas.openxmlformats.org/officeDocument/2006/relationships/image" Target="../media/image5.png"/><Relationship Id="rId19"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customXml" Target="../ink/ink7.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6E636-D1D5-3AAC-5CD5-A2F5C585CB49}"/>
              </a:ext>
            </a:extLst>
          </p:cNvPr>
          <p:cNvSpPr>
            <a:spLocks noGrp="1"/>
          </p:cNvSpPr>
          <p:nvPr>
            <p:ph type="title"/>
          </p:nvPr>
        </p:nvSpPr>
        <p:spPr/>
        <p:txBody>
          <a:bodyPr>
            <a:normAutofit fontScale="90000"/>
          </a:bodyPr>
          <a:lstStyle/>
          <a:p>
            <a:r>
              <a:rPr lang="en-US" dirty="0">
                <a:solidFill>
                  <a:srgbClr val="3B3838"/>
                </a:solidFill>
              </a:rPr>
              <a:t>Wave Energy Converters Dataset</a:t>
            </a:r>
            <a:endParaRPr lang="pl-PL" dirty="0"/>
          </a:p>
          <a:p>
            <a:endParaRPr lang="en-US" dirty="0">
              <a:solidFill>
                <a:schemeClr val="bg2">
                  <a:lumMod val="25000"/>
                </a:schemeClr>
              </a:solidFill>
              <a:cs typeface="Segoe UI"/>
            </a:endParaRPr>
          </a:p>
        </p:txBody>
      </p:sp>
      <p:sp>
        <p:nvSpPr>
          <p:cNvPr id="5" name="Text Placeholder 4">
            <a:extLst>
              <a:ext uri="{FF2B5EF4-FFF2-40B4-BE49-F238E27FC236}">
                <a16:creationId xmlns:a16="http://schemas.microsoft.com/office/drawing/2014/main" id="{DE831F0C-52BB-6204-5BF6-C4DDD23942D3}"/>
              </a:ext>
            </a:extLst>
          </p:cNvPr>
          <p:cNvSpPr>
            <a:spLocks noGrp="1"/>
          </p:cNvSpPr>
          <p:nvPr>
            <p:ph type="body" sz="quarter" idx="10"/>
          </p:nvPr>
        </p:nvSpPr>
        <p:spPr/>
        <p:txBody>
          <a:bodyPr vert="horz" lIns="91440" tIns="45720" rIns="91440" bIns="45720" rtlCol="0" anchor="t">
            <a:normAutofit/>
          </a:bodyPr>
          <a:lstStyle/>
          <a:p>
            <a:r>
              <a:rPr lang="en-US" dirty="0">
                <a:cs typeface="Segoe UI"/>
              </a:rPr>
              <a:t>Data Analyst and predictions models</a:t>
            </a:r>
            <a:endParaRPr lang="pl-PL" dirty="0">
              <a:cs typeface="Segoe UI"/>
            </a:endParaRPr>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A1521994-57A8-2D34-4412-38ABE309AE05}"/>
                  </a:ext>
                </a:extLst>
              </p14:cNvPr>
              <p14:cNvContentPartPr/>
              <p14:nvPr/>
            </p14:nvContentPartPr>
            <p14:xfrm>
              <a:off x="782937" y="247794"/>
              <a:ext cx="1158480" cy="329760"/>
            </p14:xfrm>
          </p:contentPart>
        </mc:Choice>
        <mc:Fallback xmlns="">
          <p:pic>
            <p:nvPicPr>
              <p:cNvPr id="15" name="Ink 14">
                <a:extLst>
                  <a:ext uri="{FF2B5EF4-FFF2-40B4-BE49-F238E27FC236}">
                    <a16:creationId xmlns:a16="http://schemas.microsoft.com/office/drawing/2014/main" id="{A1521994-57A8-2D34-4412-38ABE309AE05}"/>
                  </a:ext>
                </a:extLst>
              </p:cNvPr>
              <p:cNvPicPr/>
              <p:nvPr/>
            </p:nvPicPr>
            <p:blipFill>
              <a:blip r:embed="rId4"/>
              <a:stretch>
                <a:fillRect/>
              </a:stretch>
            </p:blipFill>
            <p:spPr>
              <a:xfrm>
                <a:off x="719937" y="184725"/>
                <a:ext cx="1284120" cy="45553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D9D8DC46-D1D7-CF7D-BBBD-CF6367898CCA}"/>
                  </a:ext>
                </a:extLst>
              </p14:cNvPr>
              <p14:cNvContentPartPr/>
              <p14:nvPr/>
            </p14:nvContentPartPr>
            <p14:xfrm>
              <a:off x="545697" y="335634"/>
              <a:ext cx="1507320" cy="97560"/>
            </p14:xfrm>
          </p:contentPart>
        </mc:Choice>
        <mc:Fallback xmlns="">
          <p:pic>
            <p:nvPicPr>
              <p:cNvPr id="17" name="Ink 16">
                <a:extLst>
                  <a:ext uri="{FF2B5EF4-FFF2-40B4-BE49-F238E27FC236}">
                    <a16:creationId xmlns:a16="http://schemas.microsoft.com/office/drawing/2014/main" id="{D9D8DC46-D1D7-CF7D-BBBD-CF6367898CCA}"/>
                  </a:ext>
                </a:extLst>
              </p:cNvPr>
              <p:cNvPicPr/>
              <p:nvPr/>
            </p:nvPicPr>
            <p:blipFill>
              <a:blip r:embed="rId6"/>
              <a:stretch>
                <a:fillRect/>
              </a:stretch>
            </p:blipFill>
            <p:spPr>
              <a:xfrm>
                <a:off x="482697" y="272634"/>
                <a:ext cx="16329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3B84A0F2-2917-3653-6AE3-0D85B6679BD2}"/>
                  </a:ext>
                </a:extLst>
              </p14:cNvPr>
              <p14:cNvContentPartPr/>
              <p14:nvPr/>
            </p14:nvContentPartPr>
            <p14:xfrm>
              <a:off x="4893057" y="1090914"/>
              <a:ext cx="360" cy="360"/>
            </p14:xfrm>
          </p:contentPart>
        </mc:Choice>
        <mc:Fallback xmlns="">
          <p:pic>
            <p:nvPicPr>
              <p:cNvPr id="2" name="Ink 1">
                <a:extLst>
                  <a:ext uri="{FF2B5EF4-FFF2-40B4-BE49-F238E27FC236}">
                    <a16:creationId xmlns:a16="http://schemas.microsoft.com/office/drawing/2014/main" id="{3B84A0F2-2917-3653-6AE3-0D85B6679BD2}"/>
                  </a:ext>
                </a:extLst>
              </p:cNvPr>
              <p:cNvPicPr/>
              <p:nvPr/>
            </p:nvPicPr>
            <p:blipFill>
              <a:blip r:embed="rId8"/>
              <a:stretch>
                <a:fillRect/>
              </a:stretch>
            </p:blipFill>
            <p:spPr>
              <a:xfrm>
                <a:off x="4886937" y="108479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5B33C53-58CB-D6CE-AD4F-31E1A43840FE}"/>
                  </a:ext>
                </a:extLst>
              </p14:cNvPr>
              <p14:cNvContentPartPr/>
              <p14:nvPr/>
            </p14:nvContentPartPr>
            <p14:xfrm>
              <a:off x="4170537" y="176154"/>
              <a:ext cx="360" cy="360"/>
            </p14:xfrm>
          </p:contentPart>
        </mc:Choice>
        <mc:Fallback xmlns="">
          <p:pic>
            <p:nvPicPr>
              <p:cNvPr id="8" name="Ink 7">
                <a:extLst>
                  <a:ext uri="{FF2B5EF4-FFF2-40B4-BE49-F238E27FC236}">
                    <a16:creationId xmlns:a16="http://schemas.microsoft.com/office/drawing/2014/main" id="{65B33C53-58CB-D6CE-AD4F-31E1A43840FE}"/>
                  </a:ext>
                </a:extLst>
              </p:cNvPr>
              <p:cNvPicPr/>
              <p:nvPr/>
            </p:nvPicPr>
            <p:blipFill>
              <a:blip r:embed="rId10"/>
              <a:stretch>
                <a:fillRect/>
              </a:stretch>
            </p:blipFill>
            <p:spPr>
              <a:xfrm>
                <a:off x="4107537" y="113154"/>
                <a:ext cx="126000" cy="126000"/>
              </a:xfrm>
              <a:prstGeom prst="rect">
                <a:avLst/>
              </a:prstGeom>
            </p:spPr>
          </p:pic>
        </mc:Fallback>
      </mc:AlternateContent>
      <p:grpSp>
        <p:nvGrpSpPr>
          <p:cNvPr id="22" name="Group 21">
            <a:extLst>
              <a:ext uri="{FF2B5EF4-FFF2-40B4-BE49-F238E27FC236}">
                <a16:creationId xmlns:a16="http://schemas.microsoft.com/office/drawing/2014/main" id="{78C7AA88-C474-438A-F1B0-4EE8DC270576}"/>
              </a:ext>
            </a:extLst>
          </p:cNvPr>
          <p:cNvGrpSpPr/>
          <p:nvPr/>
        </p:nvGrpSpPr>
        <p:grpSpPr>
          <a:xfrm>
            <a:off x="529137" y="481074"/>
            <a:ext cx="2654640" cy="844920"/>
            <a:chOff x="529137" y="481074"/>
            <a:chExt cx="2654640" cy="844920"/>
          </a:xfrm>
        </p:grpSpPr>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6AB26D1B-BF53-7A56-0E63-4EC0F8A8EFF3}"/>
                    </a:ext>
                  </a:extLst>
                </p14:cNvPr>
                <p14:cNvContentPartPr/>
                <p14:nvPr/>
              </p14:nvContentPartPr>
              <p14:xfrm>
                <a:off x="746217" y="481074"/>
                <a:ext cx="2437560" cy="723960"/>
              </p14:xfrm>
            </p:contentPart>
          </mc:Choice>
          <mc:Fallback xmlns="">
            <p:pic>
              <p:nvPicPr>
                <p:cNvPr id="3" name="Ink 2">
                  <a:extLst>
                    <a:ext uri="{FF2B5EF4-FFF2-40B4-BE49-F238E27FC236}">
                      <a16:creationId xmlns:a16="http://schemas.microsoft.com/office/drawing/2014/main" id="{6AB26D1B-BF53-7A56-0E63-4EC0F8A8EFF3}"/>
                    </a:ext>
                  </a:extLst>
                </p:cNvPr>
                <p:cNvPicPr/>
                <p:nvPr/>
              </p:nvPicPr>
              <p:blipFill>
                <a:blip r:embed="rId12"/>
                <a:stretch>
                  <a:fillRect/>
                </a:stretch>
              </p:blipFill>
              <p:spPr>
                <a:xfrm>
                  <a:off x="740098" y="474954"/>
                  <a:ext cx="2449798"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k 5">
                  <a:extLst>
                    <a:ext uri="{FF2B5EF4-FFF2-40B4-BE49-F238E27FC236}">
                      <a16:creationId xmlns:a16="http://schemas.microsoft.com/office/drawing/2014/main" id="{D3609003-C349-E956-E062-64678F7A6A15}"/>
                    </a:ext>
                  </a:extLst>
                </p14:cNvPr>
                <p14:cNvContentPartPr/>
                <p14:nvPr/>
              </p14:nvContentPartPr>
              <p14:xfrm>
                <a:off x="738297" y="1171194"/>
                <a:ext cx="360" cy="360"/>
              </p14:xfrm>
            </p:contentPart>
          </mc:Choice>
          <mc:Fallback xmlns="">
            <p:pic>
              <p:nvPicPr>
                <p:cNvPr id="6" name="Ink 5">
                  <a:extLst>
                    <a:ext uri="{FF2B5EF4-FFF2-40B4-BE49-F238E27FC236}">
                      <a16:creationId xmlns:a16="http://schemas.microsoft.com/office/drawing/2014/main" id="{D3609003-C349-E956-E062-64678F7A6A15}"/>
                    </a:ext>
                  </a:extLst>
                </p:cNvPr>
                <p:cNvPicPr/>
                <p:nvPr/>
              </p:nvPicPr>
              <p:blipFill>
                <a:blip r:embed="rId8"/>
                <a:stretch>
                  <a:fillRect/>
                </a:stretch>
              </p:blipFill>
              <p:spPr>
                <a:xfrm>
                  <a:off x="732177" y="116507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893207A9-1D3A-954E-3CB9-0176B6A495CE}"/>
                    </a:ext>
                  </a:extLst>
                </p14:cNvPr>
                <p14:cNvContentPartPr/>
                <p14:nvPr/>
              </p14:nvContentPartPr>
              <p14:xfrm>
                <a:off x="529137" y="494394"/>
                <a:ext cx="2138760" cy="645840"/>
              </p14:xfrm>
            </p:contentPart>
          </mc:Choice>
          <mc:Fallback xmlns="">
            <p:pic>
              <p:nvPicPr>
                <p:cNvPr id="9" name="Ink 8">
                  <a:extLst>
                    <a:ext uri="{FF2B5EF4-FFF2-40B4-BE49-F238E27FC236}">
                      <a16:creationId xmlns:a16="http://schemas.microsoft.com/office/drawing/2014/main" id="{893207A9-1D3A-954E-3CB9-0176B6A495CE}"/>
                    </a:ext>
                  </a:extLst>
                </p:cNvPr>
                <p:cNvPicPr/>
                <p:nvPr/>
              </p:nvPicPr>
              <p:blipFill>
                <a:blip r:embed="rId15"/>
                <a:stretch>
                  <a:fillRect/>
                </a:stretch>
              </p:blipFill>
              <p:spPr>
                <a:xfrm>
                  <a:off x="466137" y="431429"/>
                  <a:ext cx="2264400" cy="77141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01DC7321-F5D3-1DF6-F638-D384022F2D56}"/>
                    </a:ext>
                  </a:extLst>
                </p14:cNvPr>
                <p14:cNvContentPartPr/>
                <p14:nvPr/>
              </p14:nvContentPartPr>
              <p14:xfrm>
                <a:off x="1732617" y="625434"/>
                <a:ext cx="721800" cy="138960"/>
              </p14:xfrm>
            </p:contentPart>
          </mc:Choice>
          <mc:Fallback xmlns="">
            <p:pic>
              <p:nvPicPr>
                <p:cNvPr id="10" name="Ink 9">
                  <a:extLst>
                    <a:ext uri="{FF2B5EF4-FFF2-40B4-BE49-F238E27FC236}">
                      <a16:creationId xmlns:a16="http://schemas.microsoft.com/office/drawing/2014/main" id="{01DC7321-F5D3-1DF6-F638-D384022F2D56}"/>
                    </a:ext>
                  </a:extLst>
                </p:cNvPr>
                <p:cNvPicPr/>
                <p:nvPr/>
              </p:nvPicPr>
              <p:blipFill>
                <a:blip r:embed="rId17"/>
                <a:stretch>
                  <a:fillRect/>
                </a:stretch>
              </p:blipFill>
              <p:spPr>
                <a:xfrm>
                  <a:off x="1669586" y="562434"/>
                  <a:ext cx="847503"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F127074F-85D4-FE55-4DEC-B5608078CC74}"/>
                    </a:ext>
                  </a:extLst>
                </p14:cNvPr>
                <p14:cNvContentPartPr/>
                <p14:nvPr/>
              </p14:nvContentPartPr>
              <p14:xfrm>
                <a:off x="1078857" y="667914"/>
                <a:ext cx="1825560" cy="658080"/>
              </p14:xfrm>
            </p:contentPart>
          </mc:Choice>
          <mc:Fallback xmlns="">
            <p:pic>
              <p:nvPicPr>
                <p:cNvPr id="11" name="Ink 10">
                  <a:extLst>
                    <a:ext uri="{FF2B5EF4-FFF2-40B4-BE49-F238E27FC236}">
                      <a16:creationId xmlns:a16="http://schemas.microsoft.com/office/drawing/2014/main" id="{F127074F-85D4-FE55-4DEC-B5608078CC74}"/>
                    </a:ext>
                  </a:extLst>
                </p:cNvPr>
                <p:cNvPicPr/>
                <p:nvPr/>
              </p:nvPicPr>
              <p:blipFill>
                <a:blip r:embed="rId19"/>
                <a:stretch>
                  <a:fillRect/>
                </a:stretch>
              </p:blipFill>
              <p:spPr>
                <a:xfrm>
                  <a:off x="1015857" y="604914"/>
                  <a:ext cx="1951200" cy="78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0D31E33D-D8B6-E702-A252-520E6F6A98EA}"/>
                    </a:ext>
                  </a:extLst>
                </p14:cNvPr>
                <p14:cNvContentPartPr/>
                <p14:nvPr/>
              </p14:nvContentPartPr>
              <p14:xfrm>
                <a:off x="1641537" y="528234"/>
                <a:ext cx="749520" cy="33120"/>
              </p14:xfrm>
            </p:contentPart>
          </mc:Choice>
          <mc:Fallback xmlns="">
            <p:pic>
              <p:nvPicPr>
                <p:cNvPr id="21" name="Ink 20">
                  <a:extLst>
                    <a:ext uri="{FF2B5EF4-FFF2-40B4-BE49-F238E27FC236}">
                      <a16:creationId xmlns:a16="http://schemas.microsoft.com/office/drawing/2014/main" id="{0D31E33D-D8B6-E702-A252-520E6F6A98EA}"/>
                    </a:ext>
                  </a:extLst>
                </p:cNvPr>
                <p:cNvPicPr/>
                <p:nvPr/>
              </p:nvPicPr>
              <p:blipFill>
                <a:blip r:embed="rId21"/>
                <a:stretch>
                  <a:fillRect/>
                </a:stretch>
              </p:blipFill>
              <p:spPr>
                <a:xfrm>
                  <a:off x="1578507" y="465234"/>
                  <a:ext cx="875220" cy="158760"/>
                </a:xfrm>
                <a:prstGeom prst="rect">
                  <a:avLst/>
                </a:prstGeom>
              </p:spPr>
            </p:pic>
          </mc:Fallback>
        </mc:AlternateContent>
      </p:grpSp>
    </p:spTree>
    <p:extLst>
      <p:ext uri="{BB962C8B-B14F-4D97-AF65-F5344CB8AC3E}">
        <p14:creationId xmlns:p14="http://schemas.microsoft.com/office/powerpoint/2010/main" val="235087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t="-4000" b="-4000"/>
          </a:stretch>
        </a:blipFill>
        <a:effectLst/>
      </p:bgPr>
    </p:bg>
    <p:spTree>
      <p:nvGrpSpPr>
        <p:cNvPr id="1" name=""/>
        <p:cNvGrpSpPr/>
        <p:nvPr/>
      </p:nvGrpSpPr>
      <p:grpSpPr>
        <a:xfrm>
          <a:off x="0" y="0"/>
          <a:ext cx="0" cy="0"/>
          <a:chOff x="0" y="0"/>
          <a:chExt cx="0" cy="0"/>
        </a:xfrm>
      </p:grpSpPr>
      <p:sp>
        <p:nvSpPr>
          <p:cNvPr id="7" name="pole tekstowe 6">
            <a:extLst>
              <a:ext uri="{FF2B5EF4-FFF2-40B4-BE49-F238E27FC236}">
                <a16:creationId xmlns:a16="http://schemas.microsoft.com/office/drawing/2014/main" id="{F2D91D38-068B-4EF6-22AC-FFDC78A4A0B5}"/>
              </a:ext>
            </a:extLst>
          </p:cNvPr>
          <p:cNvSpPr txBox="1"/>
          <p:nvPr/>
        </p:nvSpPr>
        <p:spPr>
          <a:xfrm>
            <a:off x="-4931" y="12"/>
            <a:ext cx="12211481" cy="2685630"/>
          </a:xfrm>
          <a:prstGeom prst="rect">
            <a:avLst/>
          </a:prstGeom>
          <a:solidFill>
            <a:srgbClr val="FFFFFF">
              <a:alpha val="70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pl-PL"/>
          </a:p>
        </p:txBody>
      </p:sp>
      <p:sp>
        <p:nvSpPr>
          <p:cNvPr id="2" name="Tytuł 1">
            <a:extLst>
              <a:ext uri="{FF2B5EF4-FFF2-40B4-BE49-F238E27FC236}">
                <a16:creationId xmlns:a16="http://schemas.microsoft.com/office/drawing/2014/main" id="{DD46B59A-265F-C5E0-0471-9660BBCE2423}"/>
              </a:ext>
            </a:extLst>
          </p:cNvPr>
          <p:cNvSpPr>
            <a:spLocks noGrp="1"/>
          </p:cNvSpPr>
          <p:nvPr>
            <p:ph type="title"/>
          </p:nvPr>
        </p:nvSpPr>
        <p:spPr/>
        <p:txBody>
          <a:bodyPr/>
          <a:lstStyle/>
          <a:p>
            <a:r>
              <a:rPr lang="pl-PL" err="1">
                <a:cs typeface="Segoe UI"/>
              </a:rPr>
              <a:t>Dataset</a:t>
            </a:r>
            <a:r>
              <a:rPr lang="pl-PL">
                <a:cs typeface="Segoe UI"/>
              </a:rPr>
              <a:t> </a:t>
            </a:r>
            <a:r>
              <a:rPr lang="pl-PL" err="1">
                <a:cs typeface="Segoe UI"/>
              </a:rPr>
              <a:t>Overwiew</a:t>
            </a:r>
            <a:endParaRPr lang="pl-PL">
              <a:cs typeface="Segoe UI"/>
            </a:endParaRPr>
          </a:p>
        </p:txBody>
      </p:sp>
      <p:sp>
        <p:nvSpPr>
          <p:cNvPr id="3" name="Symbol zastępczy zawartości 2">
            <a:extLst>
              <a:ext uri="{FF2B5EF4-FFF2-40B4-BE49-F238E27FC236}">
                <a16:creationId xmlns:a16="http://schemas.microsoft.com/office/drawing/2014/main" id="{15758B69-AA71-3FD0-F081-4FDB65DF7012}"/>
              </a:ext>
            </a:extLst>
          </p:cNvPr>
          <p:cNvSpPr>
            <a:spLocks noGrp="1"/>
          </p:cNvSpPr>
          <p:nvPr>
            <p:ph sz="quarter" idx="13"/>
          </p:nvPr>
        </p:nvSpPr>
        <p:spPr>
          <a:xfrm>
            <a:off x="444500" y="1126572"/>
            <a:ext cx="11210543" cy="4601748"/>
          </a:xfrm>
        </p:spPr>
        <p:txBody>
          <a:bodyPr vert="horz" lIns="91440" tIns="45720" rIns="91440" bIns="45720" rtlCol="0" anchor="t">
            <a:normAutofit/>
          </a:bodyPr>
          <a:lstStyle/>
          <a:p>
            <a:r>
              <a:rPr lang="en-US" sz="2800">
                <a:solidFill>
                  <a:srgbClr val="000000"/>
                </a:solidFill>
                <a:latin typeface="Calibri"/>
                <a:cs typeface="Calibri"/>
              </a:rPr>
              <a:t>This data set consists of positions and absorbed power outputs of wave energy converters (WECs) in four real wave scenarios from the southern coast of Australia</a:t>
            </a:r>
            <a:endParaRPr lang="pl-PL" sz="2800"/>
          </a:p>
        </p:txBody>
      </p:sp>
      <p:sp>
        <p:nvSpPr>
          <p:cNvPr id="11" name="pole tekstowe 10">
            <a:extLst>
              <a:ext uri="{FF2B5EF4-FFF2-40B4-BE49-F238E27FC236}">
                <a16:creationId xmlns:a16="http://schemas.microsoft.com/office/drawing/2014/main" id="{3AA588C2-1FB7-16D3-BC37-AFEC09E1F8F1}"/>
              </a:ext>
            </a:extLst>
          </p:cNvPr>
          <p:cNvSpPr txBox="1"/>
          <p:nvPr/>
        </p:nvSpPr>
        <p:spPr>
          <a:xfrm>
            <a:off x="3463940" y="4361538"/>
            <a:ext cx="19099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l-PL" sz="2400" b="1">
                <a:cs typeface="Segoe UI"/>
              </a:rPr>
              <a:t>Perch</a:t>
            </a:r>
            <a:endParaRPr lang="pl-PL" sz="2400" b="1"/>
          </a:p>
        </p:txBody>
      </p:sp>
      <p:sp>
        <p:nvSpPr>
          <p:cNvPr id="12" name="pole tekstowe 11">
            <a:extLst>
              <a:ext uri="{FF2B5EF4-FFF2-40B4-BE49-F238E27FC236}">
                <a16:creationId xmlns:a16="http://schemas.microsoft.com/office/drawing/2014/main" id="{FB5267A4-B87D-7B2A-76AB-2DF6C1499D34}"/>
              </a:ext>
            </a:extLst>
          </p:cNvPr>
          <p:cNvSpPr txBox="1"/>
          <p:nvPr/>
        </p:nvSpPr>
        <p:spPr>
          <a:xfrm>
            <a:off x="8877108" y="4589148"/>
            <a:ext cx="19099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sz="2400" b="1">
                <a:cs typeface="Segoe UI"/>
              </a:rPr>
              <a:t>Sydney</a:t>
            </a:r>
          </a:p>
        </p:txBody>
      </p:sp>
      <p:sp>
        <p:nvSpPr>
          <p:cNvPr id="13" name="pole tekstowe 12">
            <a:extLst>
              <a:ext uri="{FF2B5EF4-FFF2-40B4-BE49-F238E27FC236}">
                <a16:creationId xmlns:a16="http://schemas.microsoft.com/office/drawing/2014/main" id="{64FF30D5-4C0A-89E0-C38C-BC08C5AA14CA}"/>
              </a:ext>
            </a:extLst>
          </p:cNvPr>
          <p:cNvSpPr txBox="1"/>
          <p:nvPr/>
        </p:nvSpPr>
        <p:spPr>
          <a:xfrm>
            <a:off x="8382303" y="5499589"/>
            <a:ext cx="19099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l-PL" sz="2400" b="1">
                <a:cs typeface="Segoe UI"/>
              </a:rPr>
              <a:t>Tasmania</a:t>
            </a:r>
            <a:endParaRPr lang="pl-PL" sz="2400" b="1"/>
          </a:p>
        </p:txBody>
      </p:sp>
      <p:sp>
        <p:nvSpPr>
          <p:cNvPr id="14" name="pole tekstowe 13">
            <a:extLst>
              <a:ext uri="{FF2B5EF4-FFF2-40B4-BE49-F238E27FC236}">
                <a16:creationId xmlns:a16="http://schemas.microsoft.com/office/drawing/2014/main" id="{C9A06391-373E-213A-535F-2F1416A672B5}"/>
              </a:ext>
            </a:extLst>
          </p:cNvPr>
          <p:cNvSpPr txBox="1"/>
          <p:nvPr/>
        </p:nvSpPr>
        <p:spPr>
          <a:xfrm>
            <a:off x="5700458" y="5044368"/>
            <a:ext cx="190991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pl-PL" sz="2400" b="1">
                <a:cs typeface="Segoe UI"/>
              </a:rPr>
              <a:t>Adelaide</a:t>
            </a:r>
            <a:endParaRPr lang="pl-PL" sz="2400" b="1"/>
          </a:p>
        </p:txBody>
      </p:sp>
    </p:spTree>
    <p:extLst>
      <p:ext uri="{BB962C8B-B14F-4D97-AF65-F5344CB8AC3E}">
        <p14:creationId xmlns:p14="http://schemas.microsoft.com/office/powerpoint/2010/main" val="40600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232B8F69-CE5B-5654-5229-7BEB2113B03B}"/>
              </a:ext>
            </a:extLst>
          </p:cNvPr>
          <p:cNvSpPr txBox="1">
            <a:spLocks/>
          </p:cNvSpPr>
          <p:nvPr/>
        </p:nvSpPr>
        <p:spPr>
          <a:xfrm>
            <a:off x="444500" y="430609"/>
            <a:ext cx="11210544" cy="557784"/>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2800" kern="1200">
                <a:solidFill>
                  <a:schemeClr val="bg2">
                    <a:lumMod val="25000"/>
                  </a:schemeClr>
                </a:solidFill>
                <a:latin typeface="+mn-lt"/>
                <a:ea typeface="+mj-ea"/>
                <a:cs typeface="+mj-cs"/>
              </a:defRPr>
            </a:lvl1pPr>
          </a:lstStyle>
          <a:p>
            <a:r>
              <a:rPr lang="pl-PL" sz="4400" err="1"/>
              <a:t>About</a:t>
            </a:r>
            <a:r>
              <a:rPr lang="pl-PL" sz="4400"/>
              <a:t> data set </a:t>
            </a:r>
          </a:p>
        </p:txBody>
      </p:sp>
      <p:sp>
        <p:nvSpPr>
          <p:cNvPr id="6" name="TextBox 5">
            <a:extLst>
              <a:ext uri="{FF2B5EF4-FFF2-40B4-BE49-F238E27FC236}">
                <a16:creationId xmlns:a16="http://schemas.microsoft.com/office/drawing/2014/main" id="{31E3945B-06FF-E3AC-33C5-CDB5D80FE9E4}"/>
              </a:ext>
            </a:extLst>
          </p:cNvPr>
          <p:cNvSpPr txBox="1"/>
          <p:nvPr/>
        </p:nvSpPr>
        <p:spPr>
          <a:xfrm>
            <a:off x="548640" y="1506071"/>
            <a:ext cx="8932244" cy="2893100"/>
          </a:xfrm>
          <a:prstGeom prst="rect">
            <a:avLst/>
          </a:prstGeom>
          <a:noFill/>
        </p:spPr>
        <p:txBody>
          <a:bodyPr wrap="square" rtlCol="0">
            <a:spAutoFit/>
          </a:bodyPr>
          <a:lstStyle/>
          <a:p>
            <a:pPr marL="285750" indent="-285750">
              <a:buFont typeface="Arial" panose="020B0604020202020204" pitchFamily="34" charset="0"/>
              <a:buChar char="•"/>
            </a:pPr>
            <a:r>
              <a:rPr lang="en-US" sz="3200">
                <a:ea typeface="+mn-lt"/>
                <a:cs typeface="+mn-lt"/>
              </a:rPr>
              <a:t>The dataset contains data from 4 cities</a:t>
            </a:r>
            <a:endParaRPr lang="pl-PL" sz="3200">
              <a:ea typeface="+mn-lt"/>
              <a:cs typeface="+mn-lt"/>
            </a:endParaRPr>
          </a:p>
          <a:p>
            <a:pPr marL="285750" indent="-285750">
              <a:buFont typeface="Arial" panose="020B0604020202020204" pitchFamily="34" charset="0"/>
              <a:buChar char="•"/>
            </a:pPr>
            <a:r>
              <a:rPr lang="pl-PL" sz="3200">
                <a:ea typeface="+mn-lt"/>
                <a:cs typeface="+mn-lt"/>
              </a:rPr>
              <a:t>In </a:t>
            </a:r>
            <a:r>
              <a:rPr lang="pl-PL" sz="3200" err="1">
                <a:ea typeface="+mn-lt"/>
                <a:cs typeface="+mn-lt"/>
              </a:rPr>
              <a:t>every</a:t>
            </a:r>
            <a:r>
              <a:rPr lang="pl-PL" sz="3200">
                <a:ea typeface="+mn-lt"/>
                <a:cs typeface="+mn-lt"/>
              </a:rPr>
              <a:t> </a:t>
            </a:r>
            <a:r>
              <a:rPr lang="pl-PL" sz="3200" err="1">
                <a:ea typeface="+mn-lt"/>
                <a:cs typeface="+mn-lt"/>
              </a:rPr>
              <a:t>city</a:t>
            </a:r>
            <a:r>
              <a:rPr lang="pl-PL" sz="3200">
                <a:ea typeface="+mn-lt"/>
                <a:cs typeface="+mn-lt"/>
              </a:rPr>
              <a:t> we </a:t>
            </a:r>
            <a:r>
              <a:rPr lang="pl-PL" sz="3200" err="1">
                <a:ea typeface="+mn-lt"/>
                <a:cs typeface="+mn-lt"/>
              </a:rPr>
              <a:t>have</a:t>
            </a:r>
            <a:r>
              <a:rPr lang="pl-PL" sz="3200">
                <a:ea typeface="+mn-lt"/>
                <a:cs typeface="+mn-lt"/>
              </a:rPr>
              <a:t> </a:t>
            </a:r>
            <a:r>
              <a:rPr lang="en-US" sz="3200">
                <a:ea typeface="+mn-lt"/>
                <a:cs typeface="+mn-lt"/>
              </a:rPr>
              <a:t>16 energy converters</a:t>
            </a:r>
            <a:endParaRPr lang="pl-PL" sz="3200">
              <a:ea typeface="+mn-lt"/>
              <a:cs typeface="+mn-lt"/>
            </a:endParaRPr>
          </a:p>
          <a:p>
            <a:pPr marL="285750" indent="-285750">
              <a:buFont typeface="Arial" panose="020B0604020202020204" pitchFamily="34" charset="0"/>
              <a:buChar char="•"/>
            </a:pPr>
            <a:r>
              <a:rPr lang="pl-PL" sz="3200">
                <a:ea typeface="+mn-lt"/>
                <a:cs typeface="+mn-lt"/>
              </a:rPr>
              <a:t>O</a:t>
            </a:r>
            <a:r>
              <a:rPr lang="en-US" sz="3200" err="1">
                <a:ea typeface="+mn-lt"/>
                <a:cs typeface="+mn-lt"/>
              </a:rPr>
              <a:t>ur</a:t>
            </a:r>
            <a:r>
              <a:rPr lang="en-US" sz="3200">
                <a:ea typeface="+mn-lt"/>
                <a:cs typeface="+mn-lt"/>
              </a:rPr>
              <a:t> X and Y converter position coordinates take values ​​from 0-566</a:t>
            </a:r>
            <a:br>
              <a:rPr lang="pl-PL">
                <a:ea typeface="+mn-lt"/>
                <a:cs typeface="+mn-lt"/>
              </a:rPr>
            </a:br>
            <a:br>
              <a:rPr lang="pl-PL">
                <a:ea typeface="+mn-lt"/>
                <a:cs typeface="+mn-lt"/>
              </a:rPr>
            </a:br>
            <a:r>
              <a:rPr lang="en-US">
                <a:ea typeface="+mn-lt"/>
                <a:cs typeface="+mn-lt"/>
              </a:rPr>
              <a:t> </a:t>
            </a:r>
            <a:br>
              <a:rPr lang="en-US">
                <a:ea typeface="+mn-lt"/>
                <a:cs typeface="+mn-lt"/>
              </a:rPr>
            </a:br>
            <a:endParaRPr lang="pl-PL"/>
          </a:p>
        </p:txBody>
      </p:sp>
    </p:spTree>
    <p:extLst>
      <p:ext uri="{BB962C8B-B14F-4D97-AF65-F5344CB8AC3E}">
        <p14:creationId xmlns:p14="http://schemas.microsoft.com/office/powerpoint/2010/main" val="3619861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070D961-8DD2-B9F6-17BC-6DA7A223A7CE}"/>
              </a:ext>
            </a:extLst>
          </p:cNvPr>
          <p:cNvSpPr>
            <a:spLocks noGrp="1"/>
          </p:cNvSpPr>
          <p:nvPr>
            <p:ph type="title"/>
          </p:nvPr>
        </p:nvSpPr>
        <p:spPr>
          <a:xfrm>
            <a:off x="3212353" y="2985550"/>
            <a:ext cx="11210544" cy="557784"/>
          </a:xfrm>
        </p:spPr>
        <p:txBody>
          <a:bodyPr vert="horz" lIns="91440" tIns="45720" rIns="91440" bIns="45720" rtlCol="0" anchor="t" anchorCtr="0">
            <a:noAutofit/>
          </a:bodyPr>
          <a:lstStyle/>
          <a:p>
            <a:r>
              <a:rPr lang="pl-PL" sz="5400" dirty="0">
                <a:cs typeface="Segoe UI"/>
              </a:rPr>
              <a:t>Project </a:t>
            </a:r>
            <a:r>
              <a:rPr lang="pl-PL" sz="5400" err="1">
                <a:cs typeface="Segoe UI"/>
              </a:rPr>
              <a:t>Purpose</a:t>
            </a:r>
            <a:endParaRPr lang="pl-PL" sz="5400" dirty="0"/>
          </a:p>
        </p:txBody>
      </p:sp>
    </p:spTree>
    <p:extLst>
      <p:ext uri="{BB962C8B-B14F-4D97-AF65-F5344CB8AC3E}">
        <p14:creationId xmlns:p14="http://schemas.microsoft.com/office/powerpoint/2010/main" val="3640525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B7CCF32-8EE3-D82F-2B5C-9B1B0D7F91DB}"/>
              </a:ext>
            </a:extLst>
          </p:cNvPr>
          <p:cNvSpPr>
            <a:spLocks noGrp="1"/>
          </p:cNvSpPr>
          <p:nvPr>
            <p:ph type="title"/>
          </p:nvPr>
        </p:nvSpPr>
        <p:spPr/>
        <p:txBody>
          <a:bodyPr/>
          <a:lstStyle/>
          <a:p>
            <a:r>
              <a:rPr lang="en-US"/>
              <a:t>Data cleaning process</a:t>
            </a:r>
            <a:endParaRPr lang="pl-PL"/>
          </a:p>
        </p:txBody>
      </p:sp>
      <p:sp>
        <p:nvSpPr>
          <p:cNvPr id="5" name="Content Placeholder 4">
            <a:extLst>
              <a:ext uri="{FF2B5EF4-FFF2-40B4-BE49-F238E27FC236}">
                <a16:creationId xmlns:a16="http://schemas.microsoft.com/office/drawing/2014/main" id="{2531CEAB-DCED-35ED-4728-3667F615B68E}"/>
              </a:ext>
            </a:extLst>
          </p:cNvPr>
          <p:cNvSpPr>
            <a:spLocks noGrp="1"/>
          </p:cNvSpPr>
          <p:nvPr>
            <p:ph sz="quarter" idx="13"/>
          </p:nvPr>
        </p:nvSpPr>
        <p:spPr>
          <a:xfrm>
            <a:off x="444499" y="1463040"/>
            <a:ext cx="5445937" cy="4601748"/>
          </a:xfrm>
        </p:spPr>
        <p:txBody>
          <a:bodyPr vert="horz" lIns="91440" tIns="45720" rIns="91440" bIns="45720" rtlCol="0" anchor="t">
            <a:normAutofit/>
          </a:bodyPr>
          <a:lstStyle/>
          <a:p>
            <a:pPr marL="283210" lvl="1" indent="-283210"/>
            <a:r>
              <a:rPr lang="en-US" b="1"/>
              <a:t>Removing Nulls</a:t>
            </a:r>
            <a:endParaRPr lang="pl-PL"/>
          </a:p>
          <a:p>
            <a:pPr marL="283210" lvl="1" indent="-283210"/>
            <a:r>
              <a:rPr lang="en-US" b="1">
                <a:cs typeface="Segoe UI"/>
              </a:rPr>
              <a:t>Removing outliers</a:t>
            </a:r>
            <a:endParaRPr lang="en-US" b="1"/>
          </a:p>
          <a:p>
            <a:pPr marL="283210" lvl="1" indent="-283210"/>
            <a:endParaRPr lang="en-US">
              <a:cs typeface="Segoe UI"/>
            </a:endParaRPr>
          </a:p>
          <a:p>
            <a:pPr marL="283210" lvl="1" indent="-283210"/>
            <a:endParaRPr lang="en-US">
              <a:cs typeface="Segoe UI"/>
            </a:endParaRPr>
          </a:p>
        </p:txBody>
      </p:sp>
      <p:pic>
        <p:nvPicPr>
          <p:cNvPr id="2" name="Obraz 1" descr="Obraz zawierający diagram, Wykres, linia, zrzut ekranu&#10;&#10;Opis wygenerowany automatycznie">
            <a:extLst>
              <a:ext uri="{FF2B5EF4-FFF2-40B4-BE49-F238E27FC236}">
                <a16:creationId xmlns:a16="http://schemas.microsoft.com/office/drawing/2014/main" id="{65276A98-8D4C-4BD8-F7D0-5858115B20B3}"/>
              </a:ext>
            </a:extLst>
          </p:cNvPr>
          <p:cNvPicPr>
            <a:picLocks noChangeAspect="1"/>
          </p:cNvPicPr>
          <p:nvPr/>
        </p:nvPicPr>
        <p:blipFill>
          <a:blip r:embed="rId3"/>
          <a:stretch>
            <a:fillRect/>
          </a:stretch>
        </p:blipFill>
        <p:spPr>
          <a:xfrm>
            <a:off x="1091421" y="2859207"/>
            <a:ext cx="4171950" cy="3209925"/>
          </a:xfrm>
          <a:prstGeom prst="rect">
            <a:avLst/>
          </a:prstGeom>
        </p:spPr>
      </p:pic>
      <p:pic>
        <p:nvPicPr>
          <p:cNvPr id="3" name="Obraz 2" descr="Obraz zawierający diagram, Wykres, linia, zrzut ekranu&#10;&#10;Opis wygenerowany automatycznie">
            <a:extLst>
              <a:ext uri="{FF2B5EF4-FFF2-40B4-BE49-F238E27FC236}">
                <a16:creationId xmlns:a16="http://schemas.microsoft.com/office/drawing/2014/main" id="{4448A60F-F9C6-896B-7C76-BB2FD80FAC64}"/>
              </a:ext>
            </a:extLst>
          </p:cNvPr>
          <p:cNvPicPr>
            <a:picLocks noChangeAspect="1"/>
          </p:cNvPicPr>
          <p:nvPr/>
        </p:nvPicPr>
        <p:blipFill>
          <a:blip r:embed="rId4"/>
          <a:stretch>
            <a:fillRect/>
          </a:stretch>
        </p:blipFill>
        <p:spPr>
          <a:xfrm>
            <a:off x="6099685" y="2830542"/>
            <a:ext cx="4219575" cy="3238500"/>
          </a:xfrm>
          <a:prstGeom prst="rect">
            <a:avLst/>
          </a:prstGeom>
        </p:spPr>
      </p:pic>
      <p:sp>
        <p:nvSpPr>
          <p:cNvPr id="4" name="pole tekstowe 3">
            <a:extLst>
              <a:ext uri="{FF2B5EF4-FFF2-40B4-BE49-F238E27FC236}">
                <a16:creationId xmlns:a16="http://schemas.microsoft.com/office/drawing/2014/main" id="{6D9BD611-E600-7BAC-6A63-C76F94D70CFD}"/>
              </a:ext>
            </a:extLst>
          </p:cNvPr>
          <p:cNvSpPr txBox="1"/>
          <p:nvPr/>
        </p:nvSpPr>
        <p:spPr>
          <a:xfrm>
            <a:off x="1183821" y="6082392"/>
            <a:ext cx="9525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sz="1400">
                <a:cs typeface="Segoe UI"/>
              </a:rPr>
              <a:t>Data from Sydney: </a:t>
            </a:r>
            <a:r>
              <a:rPr lang="pl-PL" sz="1400" err="1">
                <a:cs typeface="Segoe UI"/>
              </a:rPr>
              <a:t>Before</a:t>
            </a:r>
            <a:r>
              <a:rPr lang="pl-PL" sz="1400">
                <a:cs typeface="Segoe UI"/>
              </a:rPr>
              <a:t> </a:t>
            </a:r>
            <a:r>
              <a:rPr lang="pl-PL" sz="1400" err="1">
                <a:cs typeface="Segoe UI"/>
              </a:rPr>
              <a:t>removing</a:t>
            </a:r>
            <a:r>
              <a:rPr lang="pl-PL" sz="1400">
                <a:cs typeface="Segoe UI"/>
              </a:rPr>
              <a:t> </a:t>
            </a:r>
            <a:r>
              <a:rPr lang="pl-PL" sz="1400" err="1">
                <a:cs typeface="Segoe UI"/>
              </a:rPr>
              <a:t>outliers</a:t>
            </a:r>
            <a:r>
              <a:rPr lang="pl-PL" sz="1400">
                <a:cs typeface="Segoe UI"/>
              </a:rPr>
              <a:t> vs </a:t>
            </a:r>
            <a:r>
              <a:rPr lang="pl-PL" sz="1400" err="1">
                <a:cs typeface="Segoe UI"/>
              </a:rPr>
              <a:t>After</a:t>
            </a:r>
            <a:r>
              <a:rPr lang="pl-PL" sz="1400">
                <a:cs typeface="Segoe UI"/>
              </a:rPr>
              <a:t> </a:t>
            </a:r>
            <a:r>
              <a:rPr lang="pl-PL" sz="1400" err="1">
                <a:cs typeface="Segoe UI"/>
              </a:rPr>
              <a:t>removing</a:t>
            </a:r>
            <a:r>
              <a:rPr lang="pl-PL" sz="1400">
                <a:cs typeface="Segoe UI"/>
              </a:rPr>
              <a:t> </a:t>
            </a:r>
            <a:r>
              <a:rPr lang="pl-PL" sz="1400" err="1">
                <a:cs typeface="Segoe UI"/>
              </a:rPr>
              <a:t>outliers</a:t>
            </a:r>
            <a:r>
              <a:rPr lang="pl-PL" sz="1400">
                <a:cs typeface="Segoe UI"/>
              </a:rPr>
              <a:t>        </a:t>
            </a:r>
          </a:p>
        </p:txBody>
      </p:sp>
    </p:spTree>
    <p:extLst>
      <p:ext uri="{BB962C8B-B14F-4D97-AF65-F5344CB8AC3E}">
        <p14:creationId xmlns:p14="http://schemas.microsoft.com/office/powerpoint/2010/main" val="2484405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09346D-5468-C88F-2F58-29CBE4E398E8}"/>
              </a:ext>
            </a:extLst>
          </p:cNvPr>
          <p:cNvSpPr>
            <a:spLocks noGrp="1"/>
          </p:cNvSpPr>
          <p:nvPr>
            <p:ph type="title"/>
          </p:nvPr>
        </p:nvSpPr>
        <p:spPr/>
        <p:txBody>
          <a:bodyPr/>
          <a:lstStyle/>
          <a:p>
            <a:endParaRPr lang="pl-PL"/>
          </a:p>
        </p:txBody>
      </p:sp>
      <p:pic>
        <p:nvPicPr>
          <p:cNvPr id="4" name="Symbol zastępczy zawartości 3" descr="Obraz zawierający diagram, Wykres, linia, zrzut ekranu&#10;&#10;Opis wygenerowany automatycznie">
            <a:extLst>
              <a:ext uri="{FF2B5EF4-FFF2-40B4-BE49-F238E27FC236}">
                <a16:creationId xmlns:a16="http://schemas.microsoft.com/office/drawing/2014/main" id="{20211FFF-2EE9-5A86-1601-DB76B8FB9C3C}"/>
              </a:ext>
            </a:extLst>
          </p:cNvPr>
          <p:cNvPicPr>
            <a:picLocks noGrp="1" noChangeAspect="1"/>
          </p:cNvPicPr>
          <p:nvPr>
            <p:ph sz="quarter" idx="13"/>
          </p:nvPr>
        </p:nvPicPr>
        <p:blipFill>
          <a:blip r:embed="rId2"/>
          <a:stretch>
            <a:fillRect/>
          </a:stretch>
        </p:blipFill>
        <p:spPr>
          <a:xfrm>
            <a:off x="448907" y="1718017"/>
            <a:ext cx="5422780" cy="4120550"/>
          </a:xfrm>
        </p:spPr>
      </p:pic>
      <p:pic>
        <p:nvPicPr>
          <p:cNvPr id="5" name="Obraz 4" descr="Obraz zawierający diagram, Wykres, linia, zrzut ekranu&#10;&#10;Opis wygenerowany automatycznie">
            <a:extLst>
              <a:ext uri="{FF2B5EF4-FFF2-40B4-BE49-F238E27FC236}">
                <a16:creationId xmlns:a16="http://schemas.microsoft.com/office/drawing/2014/main" id="{5FF11084-46D4-ABF2-4B5D-BF296EAD7005}"/>
              </a:ext>
            </a:extLst>
          </p:cNvPr>
          <p:cNvPicPr>
            <a:picLocks noChangeAspect="1"/>
          </p:cNvPicPr>
          <p:nvPr/>
        </p:nvPicPr>
        <p:blipFill>
          <a:blip r:embed="rId3"/>
          <a:stretch>
            <a:fillRect/>
          </a:stretch>
        </p:blipFill>
        <p:spPr>
          <a:xfrm>
            <a:off x="6092443" y="1700179"/>
            <a:ext cx="5647507" cy="4137457"/>
          </a:xfrm>
          <a:prstGeom prst="rect">
            <a:avLst/>
          </a:prstGeom>
        </p:spPr>
      </p:pic>
      <p:sp>
        <p:nvSpPr>
          <p:cNvPr id="7" name="pole tekstowe 6">
            <a:extLst>
              <a:ext uri="{FF2B5EF4-FFF2-40B4-BE49-F238E27FC236}">
                <a16:creationId xmlns:a16="http://schemas.microsoft.com/office/drawing/2014/main" id="{80218130-BB7A-D6FC-E572-935440B0A1AE}"/>
              </a:ext>
            </a:extLst>
          </p:cNvPr>
          <p:cNvSpPr txBox="1"/>
          <p:nvPr/>
        </p:nvSpPr>
        <p:spPr>
          <a:xfrm>
            <a:off x="679253" y="5835257"/>
            <a:ext cx="9525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sz="1400">
                <a:cs typeface="Segoe UI"/>
              </a:rPr>
              <a:t>Data from Tasmania: </a:t>
            </a:r>
            <a:r>
              <a:rPr lang="pl-PL" sz="1400" err="1">
                <a:cs typeface="Segoe UI"/>
              </a:rPr>
              <a:t>Before</a:t>
            </a:r>
            <a:r>
              <a:rPr lang="pl-PL" sz="1400">
                <a:cs typeface="Segoe UI"/>
              </a:rPr>
              <a:t> </a:t>
            </a:r>
            <a:r>
              <a:rPr lang="pl-PL" sz="1400" err="1">
                <a:cs typeface="Segoe UI"/>
              </a:rPr>
              <a:t>removing</a:t>
            </a:r>
            <a:r>
              <a:rPr lang="pl-PL" sz="1400">
                <a:cs typeface="Segoe UI"/>
              </a:rPr>
              <a:t> </a:t>
            </a:r>
            <a:r>
              <a:rPr lang="pl-PL" sz="1400" err="1">
                <a:cs typeface="Segoe UI"/>
              </a:rPr>
              <a:t>outliers</a:t>
            </a:r>
            <a:r>
              <a:rPr lang="pl-PL" sz="1400">
                <a:cs typeface="Segoe UI"/>
              </a:rPr>
              <a:t> vs </a:t>
            </a:r>
            <a:r>
              <a:rPr lang="pl-PL" sz="1400" err="1">
                <a:cs typeface="Segoe UI"/>
              </a:rPr>
              <a:t>After</a:t>
            </a:r>
            <a:r>
              <a:rPr lang="pl-PL" sz="1400">
                <a:cs typeface="Segoe UI"/>
              </a:rPr>
              <a:t> </a:t>
            </a:r>
            <a:r>
              <a:rPr lang="pl-PL" sz="1400" err="1">
                <a:cs typeface="Segoe UI"/>
              </a:rPr>
              <a:t>removing</a:t>
            </a:r>
            <a:r>
              <a:rPr lang="pl-PL" sz="1400">
                <a:cs typeface="Segoe UI"/>
              </a:rPr>
              <a:t> </a:t>
            </a:r>
            <a:r>
              <a:rPr lang="pl-PL" sz="1400" err="1">
                <a:cs typeface="Segoe UI"/>
              </a:rPr>
              <a:t>outliers</a:t>
            </a:r>
            <a:r>
              <a:rPr lang="pl-PL" sz="1400">
                <a:cs typeface="Segoe UI"/>
              </a:rPr>
              <a:t>        </a:t>
            </a:r>
          </a:p>
        </p:txBody>
      </p:sp>
    </p:spTree>
    <p:extLst>
      <p:ext uri="{BB962C8B-B14F-4D97-AF65-F5344CB8AC3E}">
        <p14:creationId xmlns:p14="http://schemas.microsoft.com/office/powerpoint/2010/main" val="278206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01757A4-21F4-08EC-725D-4627EA3F7402}"/>
              </a:ext>
            </a:extLst>
          </p:cNvPr>
          <p:cNvSpPr>
            <a:spLocks noGrp="1"/>
          </p:cNvSpPr>
          <p:nvPr>
            <p:ph type="title"/>
          </p:nvPr>
        </p:nvSpPr>
        <p:spPr/>
        <p:txBody>
          <a:bodyPr/>
          <a:lstStyle/>
          <a:p>
            <a:r>
              <a:rPr lang="en-US"/>
              <a:t>Correlation analysis</a:t>
            </a:r>
            <a:endParaRPr lang="pl-PL"/>
          </a:p>
        </p:txBody>
      </p:sp>
      <p:sp>
        <p:nvSpPr>
          <p:cNvPr id="5" name="Content Placeholder 4">
            <a:extLst>
              <a:ext uri="{FF2B5EF4-FFF2-40B4-BE49-F238E27FC236}">
                <a16:creationId xmlns:a16="http://schemas.microsoft.com/office/drawing/2014/main" id="{61BCCD2A-A198-A55E-96E0-04205740822E}"/>
              </a:ext>
            </a:extLst>
          </p:cNvPr>
          <p:cNvSpPr>
            <a:spLocks noGrp="1"/>
          </p:cNvSpPr>
          <p:nvPr>
            <p:ph sz="quarter" idx="13"/>
          </p:nvPr>
        </p:nvSpPr>
        <p:spPr/>
        <p:txBody>
          <a:bodyPr vert="horz" lIns="91440" tIns="45720" rIns="91440" bIns="45720" rtlCol="0" anchor="t">
            <a:normAutofit/>
          </a:bodyPr>
          <a:lstStyle/>
          <a:p>
            <a:pPr marL="285750" indent="-285750">
              <a:buFont typeface="Arial"/>
              <a:buChar char="•"/>
            </a:pPr>
            <a:r>
              <a:rPr lang="en-US" sz="1800" dirty="0">
                <a:cs typeface="Segoe UI"/>
              </a:rPr>
              <a:t>Correlation Matrix for Power 1 – Po</a:t>
            </a:r>
            <a:r>
              <a:rPr lang="pl-PL" sz="1800" dirty="0">
                <a:cs typeface="Segoe UI"/>
              </a:rPr>
              <a:t>w</a:t>
            </a:r>
            <a:r>
              <a:rPr lang="en-US" sz="1800" dirty="0">
                <a:cs typeface="Segoe UI"/>
              </a:rPr>
              <a:t>er 16  and Power total can show us how strongly the features (P1-P16) are connected to the target variable (Power total)</a:t>
            </a:r>
          </a:p>
          <a:p>
            <a:pPr marL="285750" indent="-285750">
              <a:buFont typeface="Arial"/>
              <a:buChar char="•"/>
            </a:pPr>
            <a:r>
              <a:rPr lang="en-US" sz="1800" dirty="0">
                <a:ea typeface="+mn-lt"/>
                <a:cs typeface="+mn-lt"/>
              </a:rPr>
              <a:t>This proves that P1-Pn is the output data and since we are predicting </a:t>
            </a:r>
            <a:r>
              <a:rPr lang="en-US" sz="1800" dirty="0" err="1">
                <a:ea typeface="+mn-lt"/>
                <a:cs typeface="+mn-lt"/>
              </a:rPr>
              <a:t>P_total</a:t>
            </a:r>
            <a:r>
              <a:rPr lang="en-US" sz="1800" dirty="0">
                <a:ea typeface="+mn-lt"/>
                <a:cs typeface="+mn-lt"/>
              </a:rPr>
              <a:t> it is necessary to remove P1-Pn. In a module the output data cannot be treated as features</a:t>
            </a:r>
            <a:endParaRPr lang="en-US" sz="1800" dirty="0">
              <a:cs typeface="Segoe UI"/>
            </a:endParaRPr>
          </a:p>
          <a:p>
            <a:pPr marL="285750" indent="-285750">
              <a:buFont typeface="Arial"/>
              <a:buChar char="•"/>
            </a:pPr>
            <a:endParaRPr lang="en-US" dirty="0">
              <a:cs typeface="Segoe UI"/>
            </a:endParaRPr>
          </a:p>
          <a:p>
            <a:endParaRPr lang="en-US" dirty="0"/>
          </a:p>
          <a:p>
            <a:endParaRPr lang="en-US" dirty="0">
              <a:cs typeface="Segoe UI"/>
            </a:endParaRPr>
          </a:p>
        </p:txBody>
      </p:sp>
      <p:sp>
        <p:nvSpPr>
          <p:cNvPr id="6" name="pole tekstowe 5">
            <a:extLst>
              <a:ext uri="{FF2B5EF4-FFF2-40B4-BE49-F238E27FC236}">
                <a16:creationId xmlns:a16="http://schemas.microsoft.com/office/drawing/2014/main" id="{E1D49028-F4A0-4F75-201D-83BCCC0655BD}"/>
              </a:ext>
            </a:extLst>
          </p:cNvPr>
          <p:cNvSpPr txBox="1"/>
          <p:nvPr/>
        </p:nvSpPr>
        <p:spPr>
          <a:xfrm>
            <a:off x="6099692" y="6428466"/>
            <a:ext cx="493042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sz="1200" err="1">
                <a:cs typeface="Segoe UI"/>
              </a:rPr>
              <a:t>Correlation</a:t>
            </a:r>
            <a:r>
              <a:rPr lang="pl-PL" sz="1200">
                <a:cs typeface="Segoe UI"/>
              </a:rPr>
              <a:t> Matrix for Sydney</a:t>
            </a:r>
          </a:p>
        </p:txBody>
      </p:sp>
      <p:pic>
        <p:nvPicPr>
          <p:cNvPr id="2" name="Picture 1">
            <a:extLst>
              <a:ext uri="{FF2B5EF4-FFF2-40B4-BE49-F238E27FC236}">
                <a16:creationId xmlns:a16="http://schemas.microsoft.com/office/drawing/2014/main" id="{2C6C6241-475A-A009-F7EE-D06AB1FAE987}"/>
              </a:ext>
            </a:extLst>
          </p:cNvPr>
          <p:cNvPicPr>
            <a:picLocks noChangeAspect="1"/>
          </p:cNvPicPr>
          <p:nvPr/>
        </p:nvPicPr>
        <p:blipFill>
          <a:blip r:embed="rId3"/>
          <a:stretch>
            <a:fillRect/>
          </a:stretch>
        </p:blipFill>
        <p:spPr>
          <a:xfrm>
            <a:off x="6096000" y="1167970"/>
            <a:ext cx="5823283" cy="5150540"/>
          </a:xfrm>
          <a:prstGeom prst="rect">
            <a:avLst/>
          </a:prstGeom>
        </p:spPr>
      </p:pic>
    </p:spTree>
    <p:extLst>
      <p:ext uri="{BB962C8B-B14F-4D97-AF65-F5344CB8AC3E}">
        <p14:creationId xmlns:p14="http://schemas.microsoft.com/office/powerpoint/2010/main" val="25031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A67B56-7257-1DCD-F350-5B867086C401}"/>
              </a:ext>
            </a:extLst>
          </p:cNvPr>
          <p:cNvSpPr>
            <a:spLocks noGrp="1"/>
          </p:cNvSpPr>
          <p:nvPr>
            <p:ph type="title"/>
          </p:nvPr>
        </p:nvSpPr>
        <p:spPr/>
        <p:txBody>
          <a:bodyPr/>
          <a:lstStyle/>
          <a:p>
            <a:r>
              <a:rPr lang="en-US"/>
              <a:t>Correlation histograms</a:t>
            </a:r>
            <a:endParaRPr lang="pl-PL"/>
          </a:p>
        </p:txBody>
      </p:sp>
      <p:sp>
        <p:nvSpPr>
          <p:cNvPr id="7" name="Content Placeholder 6">
            <a:extLst>
              <a:ext uri="{FF2B5EF4-FFF2-40B4-BE49-F238E27FC236}">
                <a16:creationId xmlns:a16="http://schemas.microsoft.com/office/drawing/2014/main" id="{D7FBB393-5329-2C86-93CE-5E587E3D3DE4}"/>
              </a:ext>
            </a:extLst>
          </p:cNvPr>
          <p:cNvSpPr>
            <a:spLocks noGrp="1"/>
          </p:cNvSpPr>
          <p:nvPr>
            <p:ph sz="quarter" idx="13"/>
          </p:nvPr>
        </p:nvSpPr>
        <p:spPr/>
        <p:txBody>
          <a:bodyPr vert="horz" lIns="91440" tIns="45720" rIns="91440" bIns="45720" rtlCol="0" anchor="t">
            <a:normAutofit/>
          </a:bodyPr>
          <a:lstStyle/>
          <a:p>
            <a:r>
              <a:rPr lang="en-US" sz="2000">
                <a:ea typeface="+mn-lt"/>
                <a:cs typeface="+mn-lt"/>
              </a:rPr>
              <a:t>Correlation histogram showing which correlation is a lot for which data set</a:t>
            </a:r>
            <a:endParaRPr lang="pl-PL" sz="2000">
              <a:cs typeface="Segoe UI"/>
            </a:endParaRPr>
          </a:p>
        </p:txBody>
      </p:sp>
      <p:pic>
        <p:nvPicPr>
          <p:cNvPr id="2" name="Obraz 1" descr="Obraz zawierający zrzut ekranu, diagram, Wykres">
            <a:extLst>
              <a:ext uri="{FF2B5EF4-FFF2-40B4-BE49-F238E27FC236}">
                <a16:creationId xmlns:a16="http://schemas.microsoft.com/office/drawing/2014/main" id="{122FFD25-6A37-5A22-F0B3-B3D70EEE00F0}"/>
              </a:ext>
            </a:extLst>
          </p:cNvPr>
          <p:cNvPicPr>
            <a:picLocks noChangeAspect="1"/>
          </p:cNvPicPr>
          <p:nvPr/>
        </p:nvPicPr>
        <p:blipFill>
          <a:blip r:embed="rId3"/>
          <a:stretch>
            <a:fillRect/>
          </a:stretch>
        </p:blipFill>
        <p:spPr>
          <a:xfrm>
            <a:off x="446306" y="2277104"/>
            <a:ext cx="5553075" cy="4152900"/>
          </a:xfrm>
          <a:prstGeom prst="rect">
            <a:avLst/>
          </a:prstGeom>
        </p:spPr>
      </p:pic>
      <p:pic>
        <p:nvPicPr>
          <p:cNvPr id="3" name="Obraz 2" descr="Obraz zawierający zrzut ekranu, diagram&#10;&#10;Opis wygenerowany automatycznie">
            <a:extLst>
              <a:ext uri="{FF2B5EF4-FFF2-40B4-BE49-F238E27FC236}">
                <a16:creationId xmlns:a16="http://schemas.microsoft.com/office/drawing/2014/main" id="{37AFAFCB-6698-066E-7E68-EE912B872D65}"/>
              </a:ext>
            </a:extLst>
          </p:cNvPr>
          <p:cNvPicPr>
            <a:picLocks noChangeAspect="1"/>
          </p:cNvPicPr>
          <p:nvPr/>
        </p:nvPicPr>
        <p:blipFill>
          <a:blip r:embed="rId4"/>
          <a:stretch>
            <a:fillRect/>
          </a:stretch>
        </p:blipFill>
        <p:spPr>
          <a:xfrm>
            <a:off x="6132573" y="2282226"/>
            <a:ext cx="5534025" cy="4133850"/>
          </a:xfrm>
          <a:prstGeom prst="rect">
            <a:avLst/>
          </a:prstGeom>
        </p:spPr>
      </p:pic>
      <p:sp>
        <p:nvSpPr>
          <p:cNvPr id="4" name="pole tekstowe 3">
            <a:extLst>
              <a:ext uri="{FF2B5EF4-FFF2-40B4-BE49-F238E27FC236}">
                <a16:creationId xmlns:a16="http://schemas.microsoft.com/office/drawing/2014/main" id="{929DBA21-7FEC-931F-880C-779EE85196E8}"/>
              </a:ext>
            </a:extLst>
          </p:cNvPr>
          <p:cNvSpPr txBox="1"/>
          <p:nvPr/>
        </p:nvSpPr>
        <p:spPr>
          <a:xfrm>
            <a:off x="4609021" y="6603746"/>
            <a:ext cx="5757499" cy="453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pl-PL"/>
          </a:p>
        </p:txBody>
      </p:sp>
      <p:sp>
        <p:nvSpPr>
          <p:cNvPr id="5" name="pole tekstowe 4">
            <a:extLst>
              <a:ext uri="{FF2B5EF4-FFF2-40B4-BE49-F238E27FC236}">
                <a16:creationId xmlns:a16="http://schemas.microsoft.com/office/drawing/2014/main" id="{BCDC1C7B-850B-87E5-EF4E-CDACD31631A0}"/>
              </a:ext>
            </a:extLst>
          </p:cNvPr>
          <p:cNvSpPr txBox="1"/>
          <p:nvPr/>
        </p:nvSpPr>
        <p:spPr>
          <a:xfrm>
            <a:off x="347565" y="6346849"/>
            <a:ext cx="1068386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l-PL" sz="1400">
                <a:cs typeface="Segoe UI"/>
              </a:rPr>
              <a:t>    Sydney                                                                                                              Adelaide</a:t>
            </a:r>
          </a:p>
        </p:txBody>
      </p:sp>
    </p:spTree>
    <p:extLst>
      <p:ext uri="{BB962C8B-B14F-4D97-AF65-F5344CB8AC3E}">
        <p14:creationId xmlns:p14="http://schemas.microsoft.com/office/powerpoint/2010/main" val="3065258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21A379-5E51-43E4-035C-2630E682EAB6}"/>
              </a:ext>
            </a:extLst>
          </p:cNvPr>
          <p:cNvSpPr>
            <a:spLocks noGrp="1"/>
          </p:cNvSpPr>
          <p:nvPr>
            <p:ph type="title"/>
          </p:nvPr>
        </p:nvSpPr>
        <p:spPr/>
        <p:txBody>
          <a:bodyPr/>
          <a:lstStyle/>
          <a:p>
            <a:r>
              <a:rPr lang="en-US"/>
              <a:t>Model construction</a:t>
            </a:r>
            <a:endParaRPr lang="pl-PL"/>
          </a:p>
        </p:txBody>
      </p:sp>
      <p:sp>
        <p:nvSpPr>
          <p:cNvPr id="5" name="Content Placeholder 2">
            <a:extLst>
              <a:ext uri="{FF2B5EF4-FFF2-40B4-BE49-F238E27FC236}">
                <a16:creationId xmlns:a16="http://schemas.microsoft.com/office/drawing/2014/main" id="{BCCE1C70-A932-9B3D-FC41-7A75762BED7A}"/>
              </a:ext>
            </a:extLst>
          </p:cNvPr>
          <p:cNvSpPr txBox="1">
            <a:spLocks/>
          </p:cNvSpPr>
          <p:nvPr/>
        </p:nvSpPr>
        <p:spPr>
          <a:xfrm>
            <a:off x="443128" y="1453897"/>
            <a:ext cx="9730268" cy="3651810"/>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800" kern="1200" baseline="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000">
                <a:solidFill>
                  <a:schemeClr val="bg2">
                    <a:lumMod val="25000"/>
                  </a:schemeClr>
                </a:solidFill>
                <a:ea typeface="+mn-lt"/>
                <a:cs typeface="+mn-lt"/>
              </a:rPr>
              <a:t>We divided the data into training, validation, and test sets (e.g. 70/15/15).</a:t>
            </a:r>
          </a:p>
          <a:p>
            <a:pPr marL="285750" indent="-285750">
              <a:buFont typeface="Arial"/>
              <a:buChar char="•"/>
            </a:pPr>
            <a:r>
              <a:rPr lang="en-US" sz="2000">
                <a:solidFill>
                  <a:schemeClr val="bg2">
                    <a:lumMod val="25000"/>
                  </a:schemeClr>
                </a:solidFill>
                <a:ea typeface="+mn-lt"/>
                <a:cs typeface="+mn-lt"/>
              </a:rPr>
              <a:t>We selected several models to evaluate their performance on this dataset including : Linear Regression, Random Forest, </a:t>
            </a:r>
            <a:r>
              <a:rPr lang="en-US" sz="2000" err="1">
                <a:solidFill>
                  <a:schemeClr val="bg2">
                    <a:lumMod val="25000"/>
                  </a:schemeClr>
                </a:solidFill>
                <a:ea typeface="+mn-lt"/>
                <a:cs typeface="+mn-lt"/>
              </a:rPr>
              <a:t>XGBoost</a:t>
            </a:r>
            <a:r>
              <a:rPr lang="en-US" sz="2000">
                <a:solidFill>
                  <a:schemeClr val="bg2">
                    <a:lumMod val="25000"/>
                  </a:schemeClr>
                </a:solidFill>
                <a:ea typeface="+mn-lt"/>
                <a:cs typeface="+mn-lt"/>
              </a:rPr>
              <a:t>, and Gradient Boosting</a:t>
            </a:r>
            <a:endParaRPr lang="en-US">
              <a:solidFill>
                <a:schemeClr val="bg2">
                  <a:lumMod val="25000"/>
                </a:schemeClr>
              </a:solidFill>
              <a:cs typeface="Segoe UI"/>
            </a:endParaRPr>
          </a:p>
          <a:p>
            <a:pPr marL="285750" indent="-285750">
              <a:buFont typeface="Arial"/>
              <a:buChar char="•"/>
            </a:pPr>
            <a:r>
              <a:rPr lang="en-US" sz="2000">
                <a:solidFill>
                  <a:schemeClr val="bg2">
                    <a:lumMod val="25000"/>
                  </a:schemeClr>
                </a:solidFill>
                <a:ea typeface="+mn-lt"/>
                <a:cs typeface="+mn-lt"/>
              </a:rPr>
              <a:t>For each model, the appropriate </a:t>
            </a:r>
            <a:r>
              <a:rPr lang="en-US" sz="2000" err="1">
                <a:solidFill>
                  <a:schemeClr val="bg2">
                    <a:lumMod val="25000"/>
                  </a:schemeClr>
                </a:solidFill>
                <a:ea typeface="+mn-lt"/>
                <a:cs typeface="+mn-lt"/>
              </a:rPr>
              <a:t>hiperparameters</a:t>
            </a:r>
            <a:r>
              <a:rPr lang="en-US" sz="2000">
                <a:solidFill>
                  <a:schemeClr val="bg2">
                    <a:lumMod val="25000"/>
                  </a:schemeClr>
                </a:solidFill>
                <a:ea typeface="+mn-lt"/>
                <a:cs typeface="+mn-lt"/>
              </a:rPr>
              <a:t> were adjusted based on the MSE</a:t>
            </a:r>
            <a:endParaRPr lang="en-US" sz="2000">
              <a:solidFill>
                <a:schemeClr val="bg2">
                  <a:lumMod val="25000"/>
                </a:schemeClr>
              </a:solidFill>
              <a:cs typeface="Segoe UI"/>
            </a:endParaRPr>
          </a:p>
        </p:txBody>
      </p:sp>
    </p:spTree>
    <p:extLst>
      <p:ext uri="{BB962C8B-B14F-4D97-AF65-F5344CB8AC3E}">
        <p14:creationId xmlns:p14="http://schemas.microsoft.com/office/powerpoint/2010/main" val="1562917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34D36D1-F7DF-AFA5-0EAD-B007EF79A755}"/>
              </a:ext>
            </a:extLst>
          </p:cNvPr>
          <p:cNvSpPr>
            <a:spLocks noGrp="1"/>
          </p:cNvSpPr>
          <p:nvPr>
            <p:ph type="title"/>
          </p:nvPr>
        </p:nvSpPr>
        <p:spPr/>
        <p:txBody>
          <a:bodyPr/>
          <a:lstStyle/>
          <a:p>
            <a:r>
              <a:rPr lang="pl-PL" err="1">
                <a:ea typeface="+mn-lt"/>
                <a:cs typeface="+mn-lt"/>
              </a:rPr>
              <a:t>Comparison</a:t>
            </a:r>
            <a:r>
              <a:rPr lang="pl-PL">
                <a:ea typeface="+mn-lt"/>
                <a:cs typeface="+mn-lt"/>
              </a:rPr>
              <a:t> of </a:t>
            </a:r>
            <a:r>
              <a:rPr lang="pl-PL" err="1">
                <a:ea typeface="+mn-lt"/>
                <a:cs typeface="+mn-lt"/>
              </a:rPr>
              <a:t>expected</a:t>
            </a:r>
            <a:r>
              <a:rPr lang="pl-PL">
                <a:ea typeface="+mn-lt"/>
                <a:cs typeface="+mn-lt"/>
              </a:rPr>
              <a:t> and </a:t>
            </a:r>
            <a:r>
              <a:rPr lang="pl-PL" err="1">
                <a:ea typeface="+mn-lt"/>
                <a:cs typeface="+mn-lt"/>
              </a:rPr>
              <a:t>actual</a:t>
            </a:r>
            <a:r>
              <a:rPr lang="pl-PL">
                <a:ea typeface="+mn-lt"/>
                <a:cs typeface="+mn-lt"/>
              </a:rPr>
              <a:t> </a:t>
            </a:r>
            <a:r>
              <a:rPr lang="pl-PL" err="1">
                <a:ea typeface="+mn-lt"/>
                <a:cs typeface="+mn-lt"/>
              </a:rPr>
              <a:t>power</a:t>
            </a:r>
            <a:r>
              <a:rPr lang="pl-PL">
                <a:ea typeface="+mn-lt"/>
                <a:cs typeface="+mn-lt"/>
              </a:rPr>
              <a:t> </a:t>
            </a:r>
            <a:r>
              <a:rPr lang="pl-PL" err="1">
                <a:ea typeface="+mn-lt"/>
                <a:cs typeface="+mn-lt"/>
              </a:rPr>
              <a:t>all</a:t>
            </a:r>
            <a:r>
              <a:rPr lang="pl-PL">
                <a:ea typeface="+mn-lt"/>
                <a:cs typeface="+mn-lt"/>
              </a:rPr>
              <a:t> </a:t>
            </a:r>
            <a:r>
              <a:rPr lang="pl-PL" err="1">
                <a:ea typeface="+mn-lt"/>
                <a:cs typeface="+mn-lt"/>
              </a:rPr>
              <a:t>values</a:t>
            </a:r>
            <a:r>
              <a:rPr lang="pl-PL">
                <a:ea typeface="+mn-lt"/>
                <a:cs typeface="+mn-lt"/>
              </a:rPr>
              <a:t> in </a:t>
            </a:r>
            <a:r>
              <a:rPr lang="pl-PL" err="1">
                <a:ea typeface="+mn-lt"/>
                <a:cs typeface="+mn-lt"/>
              </a:rPr>
              <a:t>Adelide</a:t>
            </a:r>
            <a:endParaRPr lang="pl-PL" err="1"/>
          </a:p>
        </p:txBody>
      </p:sp>
      <p:pic>
        <p:nvPicPr>
          <p:cNvPr id="3" name="Obraz 2" descr="Obraz zawierający zrzut ekranu, tekst, Wykres, linia&#10;&#10;Opis wygenerowany automatycznie">
            <a:extLst>
              <a:ext uri="{FF2B5EF4-FFF2-40B4-BE49-F238E27FC236}">
                <a16:creationId xmlns:a16="http://schemas.microsoft.com/office/drawing/2014/main" id="{0EC4F597-6523-CC26-B9F2-B5D8C9D23C6A}"/>
              </a:ext>
            </a:extLst>
          </p:cNvPr>
          <p:cNvPicPr>
            <a:picLocks noChangeAspect="1"/>
          </p:cNvPicPr>
          <p:nvPr/>
        </p:nvPicPr>
        <p:blipFill>
          <a:blip r:embed="rId2"/>
          <a:srcRect t="5738" r="766" b="205"/>
          <a:stretch/>
        </p:blipFill>
        <p:spPr>
          <a:xfrm>
            <a:off x="2270312" y="1575406"/>
            <a:ext cx="7259195" cy="5141660"/>
          </a:xfrm>
          <a:prstGeom prst="rect">
            <a:avLst/>
          </a:prstGeom>
        </p:spPr>
      </p:pic>
    </p:spTree>
    <p:extLst>
      <p:ext uri="{BB962C8B-B14F-4D97-AF65-F5344CB8AC3E}">
        <p14:creationId xmlns:p14="http://schemas.microsoft.com/office/powerpoint/2010/main" val="1241539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1B4B5DF-A3CE-4677-B876-36879B3CA51F}"/>
              </a:ext>
            </a:extLst>
          </p:cNvPr>
          <p:cNvSpPr>
            <a:spLocks noGrp="1"/>
          </p:cNvSpPr>
          <p:nvPr>
            <p:ph type="title"/>
          </p:nvPr>
        </p:nvSpPr>
        <p:spPr/>
        <p:txBody>
          <a:bodyPr/>
          <a:lstStyle/>
          <a:p>
            <a:r>
              <a:rPr lang="pl-PL" err="1">
                <a:ea typeface="+mn-lt"/>
                <a:cs typeface="+mn-lt"/>
              </a:rPr>
              <a:t>Validation</a:t>
            </a:r>
            <a:r>
              <a:rPr lang="pl-PL">
                <a:ea typeface="+mn-lt"/>
                <a:cs typeface="+mn-lt"/>
              </a:rPr>
              <a:t> </a:t>
            </a:r>
            <a:r>
              <a:rPr lang="pl-PL" err="1">
                <a:ea typeface="+mn-lt"/>
                <a:cs typeface="+mn-lt"/>
              </a:rPr>
              <a:t>Results</a:t>
            </a:r>
            <a:endParaRPr lang="pl-PL" err="1"/>
          </a:p>
        </p:txBody>
      </p:sp>
      <p:sp>
        <p:nvSpPr>
          <p:cNvPr id="3" name="pole tekstowe 2">
            <a:extLst>
              <a:ext uri="{FF2B5EF4-FFF2-40B4-BE49-F238E27FC236}">
                <a16:creationId xmlns:a16="http://schemas.microsoft.com/office/drawing/2014/main" id="{286029ED-E135-F39A-55E4-1EA9734063D8}"/>
              </a:ext>
            </a:extLst>
          </p:cNvPr>
          <p:cNvSpPr txBox="1"/>
          <p:nvPr/>
        </p:nvSpPr>
        <p:spPr>
          <a:xfrm>
            <a:off x="303980" y="1663321"/>
            <a:ext cx="6169925" cy="6894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l-PL">
                <a:ea typeface="+mn-lt"/>
                <a:cs typeface="+mn-lt"/>
              </a:rPr>
              <a:t>We </a:t>
            </a:r>
            <a:r>
              <a:rPr lang="pl-PL" err="1">
                <a:ea typeface="+mn-lt"/>
                <a:cs typeface="+mn-lt"/>
              </a:rPr>
              <a:t>used</a:t>
            </a:r>
            <a:r>
              <a:rPr lang="pl-PL">
                <a:ea typeface="+mn-lt"/>
                <a:cs typeface="+mn-lt"/>
              </a:rPr>
              <a:t> RMSE as a </a:t>
            </a:r>
            <a:r>
              <a:rPr lang="pl-PL" err="1">
                <a:ea typeface="+mn-lt"/>
                <a:cs typeface="+mn-lt"/>
              </a:rPr>
              <a:t>metric</a:t>
            </a:r>
            <a:r>
              <a:rPr lang="pl-PL">
                <a:ea typeface="+mn-lt"/>
                <a:cs typeface="+mn-lt"/>
              </a:rPr>
              <a:t> to </a:t>
            </a:r>
            <a:r>
              <a:rPr lang="pl-PL" err="1">
                <a:ea typeface="+mn-lt"/>
                <a:cs typeface="+mn-lt"/>
              </a:rPr>
              <a:t>compare</a:t>
            </a:r>
            <a:r>
              <a:rPr lang="pl-PL">
                <a:ea typeface="+mn-lt"/>
                <a:cs typeface="+mn-lt"/>
              </a:rPr>
              <a:t> </a:t>
            </a:r>
            <a:r>
              <a:rPr lang="pl-PL" err="1">
                <a:ea typeface="+mn-lt"/>
                <a:cs typeface="+mn-lt"/>
              </a:rPr>
              <a:t>models</a:t>
            </a:r>
            <a:r>
              <a:rPr lang="pl-PL">
                <a:ea typeface="+mn-lt"/>
                <a:cs typeface="+mn-lt"/>
              </a:rPr>
              <a:t> and </a:t>
            </a:r>
            <a:r>
              <a:rPr lang="pl-PL" err="1">
                <a:ea typeface="+mn-lt"/>
                <a:cs typeface="+mn-lt"/>
              </a:rPr>
              <a:t>coefficient</a:t>
            </a:r>
            <a:r>
              <a:rPr lang="pl-PL">
                <a:ea typeface="+mn-lt"/>
                <a:cs typeface="+mn-lt"/>
              </a:rPr>
              <a:t> of </a:t>
            </a:r>
            <a:r>
              <a:rPr lang="pl-PL" err="1">
                <a:ea typeface="+mn-lt"/>
                <a:cs typeface="+mn-lt"/>
              </a:rPr>
              <a:t>determinations</a:t>
            </a:r>
            <a:endParaRPr lang="pl-PL">
              <a:ea typeface="+mn-lt"/>
              <a:cs typeface="+mn-lt"/>
            </a:endParaRPr>
          </a:p>
          <a:p>
            <a:pPr marL="285750" indent="-285750">
              <a:buFont typeface="Arial"/>
              <a:buChar char="•"/>
            </a:pPr>
            <a:r>
              <a:rPr lang="en-US" sz="1600">
                <a:solidFill>
                  <a:schemeClr val="bg2">
                    <a:lumMod val="25000"/>
                  </a:schemeClr>
                </a:solidFill>
                <a:cs typeface="Segoe UI"/>
              </a:rPr>
              <a:t>The results highlighted variations in how well each model handled the data. </a:t>
            </a:r>
          </a:p>
          <a:p>
            <a:pPr marL="285750" indent="-285750">
              <a:buFont typeface="Arial"/>
              <a:buChar char="•"/>
            </a:pPr>
            <a:endParaRPr lang="en-US" sz="1600">
              <a:solidFill>
                <a:schemeClr val="bg2">
                  <a:lumMod val="25000"/>
                </a:schemeClr>
              </a:solidFill>
              <a:cs typeface="Segoe UI"/>
            </a:endParaRPr>
          </a:p>
          <a:p>
            <a:pPr>
              <a:buFont typeface="Arial"/>
              <a:buChar char="•"/>
            </a:pPr>
            <a:r>
              <a:rPr lang="en-US" sz="1600">
                <a:solidFill>
                  <a:schemeClr val="bg2">
                    <a:lumMod val="25000"/>
                  </a:schemeClr>
                </a:solidFill>
                <a:cs typeface="Segoe UI"/>
              </a:rPr>
              <a:t>    Scores from Perth: </a:t>
            </a:r>
            <a:r>
              <a:rPr lang="en-US" sz="1600">
                <a:solidFill>
                  <a:schemeClr val="bg2">
                    <a:lumMod val="25000"/>
                  </a:schemeClr>
                </a:solidFill>
                <a:ea typeface="+mn-lt"/>
                <a:cs typeface="+mn-lt"/>
              </a:rPr>
              <a:t>.</a:t>
            </a:r>
            <a:endParaRPr lang="en-US" sz="1600">
              <a:solidFill>
                <a:schemeClr val="bg2">
                  <a:lumMod val="25000"/>
                </a:schemeClr>
              </a:solidFill>
              <a:cs typeface="Segoe UI"/>
            </a:endParaRPr>
          </a:p>
          <a:p>
            <a:r>
              <a:rPr lang="en-US" sz="1600">
                <a:solidFill>
                  <a:schemeClr val="bg2">
                    <a:lumMod val="25000"/>
                  </a:schemeClr>
                </a:solidFill>
                <a:ea typeface="+mn-lt"/>
                <a:cs typeface="+mn-lt"/>
              </a:rPr>
              <a:t> Linear Regression - Best RMSE on validation set: 47745.2761</a:t>
            </a:r>
            <a:endParaRPr lang="en-US">
              <a:solidFill>
                <a:schemeClr val="bg2">
                  <a:lumMod val="25000"/>
                </a:schemeClr>
              </a:solidFill>
              <a:cs typeface="Segoe UI"/>
            </a:endParaRPr>
          </a:p>
          <a:p>
            <a:r>
              <a:rPr lang="en-US" sz="1600">
                <a:solidFill>
                  <a:schemeClr val="bg2">
                    <a:lumMod val="25000"/>
                  </a:schemeClr>
                </a:solidFill>
                <a:ea typeface="+mn-lt"/>
                <a:cs typeface="+mn-lt"/>
              </a:rPr>
              <a:t> Gradient Boosting - Best RMSE on validation set: 20125.2351</a:t>
            </a:r>
            <a:endParaRPr lang="en-US">
              <a:solidFill>
                <a:schemeClr val="bg2">
                  <a:lumMod val="25000"/>
                </a:schemeClr>
              </a:solidFill>
              <a:ea typeface="+mn-lt"/>
              <a:cs typeface="+mn-lt"/>
            </a:endParaRPr>
          </a:p>
          <a:p>
            <a:r>
              <a:rPr lang="en-US" sz="1600">
                <a:solidFill>
                  <a:schemeClr val="bg2">
                    <a:lumMod val="25000"/>
                  </a:schemeClr>
                </a:solidFill>
                <a:ea typeface="+mn-lt"/>
                <a:cs typeface="+mn-lt"/>
              </a:rPr>
              <a:t> Random Forest – RMSE 24776.4345</a:t>
            </a:r>
            <a:endParaRPr lang="en-US">
              <a:solidFill>
                <a:schemeClr val="bg2">
                  <a:lumMod val="25000"/>
                </a:schemeClr>
              </a:solidFill>
              <a:latin typeface="Courier New"/>
              <a:ea typeface="+mn-lt"/>
              <a:cs typeface="Courier New"/>
            </a:endParaRPr>
          </a:p>
          <a:p>
            <a:r>
              <a:rPr lang="en-US" sz="1600">
                <a:solidFill>
                  <a:schemeClr val="bg2">
                    <a:lumMod val="25000"/>
                  </a:schemeClr>
                </a:solidFill>
                <a:ea typeface="+mn-lt"/>
                <a:cs typeface="+mn-lt"/>
              </a:rPr>
              <a:t>    </a:t>
            </a:r>
            <a:r>
              <a:rPr lang="en-US" sz="1600" err="1">
                <a:solidFill>
                  <a:schemeClr val="bg2">
                    <a:lumMod val="25000"/>
                  </a:schemeClr>
                </a:solidFill>
                <a:ea typeface="+mn-lt"/>
                <a:cs typeface="+mn-lt"/>
              </a:rPr>
              <a:t>kNN</a:t>
            </a:r>
            <a:r>
              <a:rPr lang="en-US" sz="1600">
                <a:solidFill>
                  <a:schemeClr val="bg2">
                    <a:lumMod val="25000"/>
                  </a:schemeClr>
                </a:solidFill>
                <a:ea typeface="+mn-lt"/>
                <a:cs typeface="+mn-lt"/>
              </a:rPr>
              <a:t> - Best RMSE on validation set: 23726.3113</a:t>
            </a:r>
            <a:endParaRPr lang="en-US">
              <a:solidFill>
                <a:schemeClr val="bg2">
                  <a:lumMod val="25000"/>
                </a:schemeClr>
              </a:solidFill>
              <a:cs typeface="Segoe UI"/>
            </a:endParaRPr>
          </a:p>
          <a:p>
            <a:r>
              <a:rPr lang="en-US" sz="1600">
                <a:solidFill>
                  <a:schemeClr val="bg2">
                    <a:lumMod val="25000"/>
                  </a:schemeClr>
                </a:solidFill>
                <a:ea typeface="+mn-lt"/>
                <a:cs typeface="+mn-lt"/>
              </a:rPr>
              <a:t> </a:t>
            </a:r>
            <a:r>
              <a:rPr lang="en-US" sz="1600" err="1">
                <a:solidFill>
                  <a:schemeClr val="bg2">
                    <a:lumMod val="25000"/>
                  </a:schemeClr>
                </a:solidFill>
                <a:ea typeface="+mn-lt"/>
                <a:cs typeface="+mn-lt"/>
              </a:rPr>
              <a:t>XGBoost</a:t>
            </a:r>
            <a:r>
              <a:rPr lang="en-US" sz="1600">
                <a:solidFill>
                  <a:schemeClr val="bg2">
                    <a:lumMod val="25000"/>
                  </a:schemeClr>
                </a:solidFill>
                <a:ea typeface="+mn-lt"/>
                <a:cs typeface="+mn-lt"/>
              </a:rPr>
              <a:t> - Best RMSE on validation set: 20218.1594</a:t>
            </a:r>
            <a:endParaRPr lang="en-US">
              <a:solidFill>
                <a:schemeClr val="bg2">
                  <a:lumMod val="25000"/>
                </a:schemeClr>
              </a:solidFill>
              <a:cs typeface="Segoe UI"/>
            </a:endParaRPr>
          </a:p>
          <a:p>
            <a:r>
              <a:rPr lang="en-US" sz="1600">
                <a:solidFill>
                  <a:schemeClr val="bg2">
                    <a:lumMod val="25000"/>
                  </a:schemeClr>
                </a:solidFill>
                <a:ea typeface="+mn-lt"/>
                <a:cs typeface="+mn-lt"/>
              </a:rPr>
              <a:t> Best Model: </a:t>
            </a:r>
            <a:r>
              <a:rPr lang="en-US" sz="1600" err="1">
                <a:solidFill>
                  <a:schemeClr val="bg2">
                    <a:lumMod val="25000"/>
                  </a:schemeClr>
                </a:solidFill>
                <a:ea typeface="+mn-lt"/>
                <a:cs typeface="+mn-lt"/>
              </a:rPr>
              <a:t>GradientBoostingRegressor</a:t>
            </a:r>
            <a:endParaRPr lang="en-US">
              <a:solidFill>
                <a:schemeClr val="bg2">
                  <a:lumMod val="25000"/>
                </a:schemeClr>
              </a:solidFill>
              <a:cs typeface="Segoe UI"/>
            </a:endParaRPr>
          </a:p>
          <a:p>
            <a:r>
              <a:rPr lang="en-US" sz="1600">
                <a:solidFill>
                  <a:schemeClr val="bg2">
                    <a:lumMod val="25000"/>
                  </a:schemeClr>
                </a:solidFill>
                <a:ea typeface="+mn-lt"/>
                <a:cs typeface="+mn-lt"/>
              </a:rPr>
              <a:t> RMSE on test set: 200`53.6101</a:t>
            </a:r>
            <a:endParaRPr lang="en-US">
              <a:solidFill>
                <a:schemeClr val="bg2">
                  <a:lumMod val="25000"/>
                </a:schemeClr>
              </a:solidFill>
              <a:cs typeface="Segoe UI"/>
            </a:endParaRPr>
          </a:p>
          <a:p>
            <a:r>
              <a:rPr lang="en-US" sz="1600">
                <a:solidFill>
                  <a:schemeClr val="bg2">
                    <a:lumMod val="25000"/>
                  </a:schemeClr>
                </a:solidFill>
                <a:ea typeface="+mn-lt"/>
                <a:cs typeface="+mn-lt"/>
              </a:rPr>
              <a:t> R² 0.8489107490603724</a:t>
            </a:r>
            <a:endParaRPr lang="en-US">
              <a:solidFill>
                <a:schemeClr val="bg2">
                  <a:lumMod val="25000"/>
                </a:schemeClr>
              </a:solidFill>
              <a:cs typeface="Segoe UI"/>
            </a:endParaRPr>
          </a:p>
          <a:p>
            <a:pPr marL="285750" indent="-285750">
              <a:buFont typeface="Arial"/>
              <a:buChar char="•"/>
            </a:pPr>
            <a:endParaRPr lang="pl-PL">
              <a:solidFill>
                <a:srgbClr val="000000"/>
              </a:solidFill>
              <a:ea typeface="+mn-lt"/>
              <a:cs typeface="+mn-lt"/>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pPr marL="285750" indent="-285750">
              <a:buFont typeface="Arial"/>
              <a:buChar char="•"/>
            </a:pPr>
            <a:endParaRPr lang="pl-PL">
              <a:cs typeface="Segoe UI"/>
            </a:endParaRPr>
          </a:p>
          <a:p>
            <a:endParaRPr lang="pl-PL">
              <a:cs typeface="Segoe UI"/>
            </a:endParaRPr>
          </a:p>
        </p:txBody>
      </p:sp>
      <p:sp>
        <p:nvSpPr>
          <p:cNvPr id="4" name="pole tekstowe 3">
            <a:extLst>
              <a:ext uri="{FF2B5EF4-FFF2-40B4-BE49-F238E27FC236}">
                <a16:creationId xmlns:a16="http://schemas.microsoft.com/office/drawing/2014/main" id="{2BDAA006-87F7-732D-EB76-E768463AB4FD}"/>
              </a:ext>
            </a:extLst>
          </p:cNvPr>
          <p:cNvSpPr txBox="1"/>
          <p:nvPr/>
        </p:nvSpPr>
        <p:spPr>
          <a:xfrm>
            <a:off x="6089898" y="3048315"/>
            <a:ext cx="5798122"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l-PL" sz="1600" dirty="0" err="1">
                <a:ea typeface="+mn-lt"/>
                <a:cs typeface="+mn-lt"/>
              </a:rPr>
              <a:t>Scores</a:t>
            </a:r>
            <a:r>
              <a:rPr lang="pl-PL" sz="1600" dirty="0">
                <a:ea typeface="+mn-lt"/>
                <a:cs typeface="+mn-lt"/>
              </a:rPr>
              <a:t> from Adelaide:</a:t>
            </a:r>
          </a:p>
          <a:p>
            <a:r>
              <a:rPr lang="pl-PL" sz="1600" dirty="0">
                <a:ea typeface="+mn-lt"/>
                <a:cs typeface="+mn-lt"/>
              </a:rPr>
              <a:t> </a:t>
            </a:r>
            <a:r>
              <a:rPr lang="pl-PL" sz="1600" dirty="0" err="1">
                <a:ea typeface="+mn-lt"/>
                <a:cs typeface="+mn-lt"/>
              </a:rPr>
              <a:t>LinearRegression</a:t>
            </a:r>
            <a:r>
              <a:rPr lang="pl-PL" sz="1600" dirty="0">
                <a:ea typeface="+mn-lt"/>
                <a:cs typeface="+mn-lt"/>
              </a:rPr>
              <a:t> - Best RMSE on </a:t>
            </a:r>
            <a:r>
              <a:rPr lang="pl-PL" sz="1600" dirty="0" err="1">
                <a:ea typeface="+mn-lt"/>
                <a:cs typeface="+mn-lt"/>
              </a:rPr>
              <a:t>validation</a:t>
            </a:r>
            <a:r>
              <a:rPr lang="pl-PL" sz="1600" dirty="0">
                <a:ea typeface="+mn-lt"/>
                <a:cs typeface="+mn-lt"/>
              </a:rPr>
              <a:t> set: 50408.5017</a:t>
            </a:r>
            <a:endParaRPr lang="pl-PL" sz="1600" dirty="0">
              <a:cs typeface="Segoe UI"/>
            </a:endParaRPr>
          </a:p>
          <a:p>
            <a:r>
              <a:rPr lang="pl-PL" sz="1600" dirty="0">
                <a:ea typeface="+mn-lt"/>
                <a:cs typeface="+mn-lt"/>
              </a:rPr>
              <a:t> </a:t>
            </a:r>
            <a:r>
              <a:rPr lang="pl-PL" sz="1600" dirty="0" err="1">
                <a:ea typeface="+mn-lt"/>
                <a:cs typeface="+mn-lt"/>
              </a:rPr>
              <a:t>GradientBoosting</a:t>
            </a:r>
            <a:r>
              <a:rPr lang="pl-PL" sz="1600" dirty="0">
                <a:ea typeface="+mn-lt"/>
                <a:cs typeface="+mn-lt"/>
              </a:rPr>
              <a:t> - Best RMSE on </a:t>
            </a:r>
            <a:r>
              <a:rPr lang="pl-PL" sz="1600" dirty="0" err="1">
                <a:ea typeface="+mn-lt"/>
                <a:cs typeface="+mn-lt"/>
              </a:rPr>
              <a:t>validation</a:t>
            </a:r>
            <a:r>
              <a:rPr lang="pl-PL" sz="1600" dirty="0">
                <a:ea typeface="+mn-lt"/>
                <a:cs typeface="+mn-lt"/>
              </a:rPr>
              <a:t> set: 19710.0581</a:t>
            </a:r>
            <a:endParaRPr lang="pl-PL" sz="1600" dirty="0">
              <a:cs typeface="Segoe UI"/>
            </a:endParaRPr>
          </a:p>
          <a:p>
            <a:r>
              <a:rPr lang="pl-PL" sz="1600" dirty="0">
                <a:ea typeface="+mn-lt"/>
                <a:cs typeface="+mn-lt"/>
              </a:rPr>
              <a:t> </a:t>
            </a:r>
            <a:r>
              <a:rPr lang="pl-PL" sz="1600" dirty="0" err="1">
                <a:ea typeface="+mn-lt"/>
                <a:cs typeface="+mn-lt"/>
              </a:rPr>
              <a:t>kNN</a:t>
            </a:r>
            <a:r>
              <a:rPr lang="pl-PL" sz="1600" dirty="0">
                <a:ea typeface="+mn-lt"/>
                <a:cs typeface="+mn-lt"/>
              </a:rPr>
              <a:t> - Best RMSE on </a:t>
            </a:r>
            <a:r>
              <a:rPr lang="pl-PL" sz="1600" dirty="0" err="1">
                <a:ea typeface="+mn-lt"/>
                <a:cs typeface="+mn-lt"/>
              </a:rPr>
              <a:t>validation</a:t>
            </a:r>
            <a:r>
              <a:rPr lang="pl-PL" sz="1600" dirty="0">
                <a:ea typeface="+mn-lt"/>
                <a:cs typeface="+mn-lt"/>
              </a:rPr>
              <a:t> set: 24033.2817</a:t>
            </a:r>
            <a:endParaRPr lang="pl-PL" sz="1600" dirty="0">
              <a:cs typeface="Segoe UI"/>
            </a:endParaRPr>
          </a:p>
          <a:p>
            <a:r>
              <a:rPr lang="pl-PL" sz="1600" dirty="0">
                <a:ea typeface="+mn-lt"/>
                <a:cs typeface="+mn-lt"/>
              </a:rPr>
              <a:t> </a:t>
            </a:r>
            <a:r>
              <a:rPr lang="pl-PL" sz="1600" dirty="0" err="1">
                <a:ea typeface="+mn-lt"/>
                <a:cs typeface="+mn-lt"/>
              </a:rPr>
              <a:t>XGBoost</a:t>
            </a:r>
            <a:r>
              <a:rPr lang="pl-PL" sz="1600" dirty="0">
                <a:ea typeface="+mn-lt"/>
                <a:cs typeface="+mn-lt"/>
              </a:rPr>
              <a:t> - Best RMSE on </a:t>
            </a:r>
            <a:r>
              <a:rPr lang="pl-PL" sz="1600" dirty="0" err="1">
                <a:ea typeface="+mn-lt"/>
                <a:cs typeface="+mn-lt"/>
              </a:rPr>
              <a:t>validation</a:t>
            </a:r>
            <a:r>
              <a:rPr lang="pl-PL" sz="1600" dirty="0">
                <a:ea typeface="+mn-lt"/>
                <a:cs typeface="+mn-lt"/>
              </a:rPr>
              <a:t> set: 19400.5251</a:t>
            </a:r>
            <a:endParaRPr lang="pl-PL" sz="1600" dirty="0">
              <a:cs typeface="Segoe UI"/>
            </a:endParaRPr>
          </a:p>
          <a:p>
            <a:r>
              <a:rPr lang="pl-PL" sz="1600" dirty="0">
                <a:ea typeface="+mn-lt"/>
                <a:cs typeface="+mn-lt"/>
              </a:rPr>
              <a:t> Best Model: </a:t>
            </a:r>
            <a:r>
              <a:rPr lang="pl-PL" sz="1600" dirty="0" err="1">
                <a:ea typeface="+mn-lt"/>
                <a:cs typeface="+mn-lt"/>
              </a:rPr>
              <a:t>XGBRegressor</a:t>
            </a:r>
            <a:endParaRPr lang="pl-PL" sz="1600" dirty="0">
              <a:cs typeface="Segoe UI"/>
            </a:endParaRPr>
          </a:p>
          <a:p>
            <a:r>
              <a:rPr lang="pl-PL" sz="1600" dirty="0">
                <a:ea typeface="+mn-lt"/>
                <a:cs typeface="+mn-lt"/>
              </a:rPr>
              <a:t> RMSE on test set: 19538.3502</a:t>
            </a:r>
            <a:endParaRPr lang="pl-PL" sz="1600" dirty="0">
              <a:cs typeface="Segoe UI"/>
            </a:endParaRPr>
          </a:p>
          <a:p>
            <a:r>
              <a:rPr lang="pl-PL" sz="1600" dirty="0">
                <a:ea typeface="+mn-lt"/>
                <a:cs typeface="+mn-lt"/>
              </a:rPr>
              <a:t> R²: 0.8760941824500015</a:t>
            </a:r>
            <a:endParaRPr lang="pl-PL" sz="1600" dirty="0"/>
          </a:p>
        </p:txBody>
      </p:sp>
    </p:spTree>
    <p:extLst>
      <p:ext uri="{BB962C8B-B14F-4D97-AF65-F5344CB8AC3E}">
        <p14:creationId xmlns:p14="http://schemas.microsoft.com/office/powerpoint/2010/main" val="4012356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7DAB186-58B2-2C9C-7D16-D030272718D6}"/>
              </a:ext>
            </a:extLst>
          </p:cNvPr>
          <p:cNvSpPr>
            <a:spLocks noGrp="1"/>
          </p:cNvSpPr>
          <p:nvPr>
            <p:ph type="title"/>
          </p:nvPr>
        </p:nvSpPr>
        <p:spPr/>
        <p:txBody>
          <a:bodyPr/>
          <a:lstStyle/>
          <a:p>
            <a:r>
              <a:rPr lang="pl-PL" dirty="0" err="1">
                <a:cs typeface="Segoe UI"/>
              </a:rPr>
              <a:t>Results</a:t>
            </a:r>
            <a:r>
              <a:rPr lang="pl-PL" dirty="0">
                <a:cs typeface="Segoe UI"/>
              </a:rPr>
              <a:t> of </a:t>
            </a:r>
            <a:r>
              <a:rPr lang="pl-PL" dirty="0" err="1">
                <a:cs typeface="Segoe UI"/>
              </a:rPr>
              <a:t>best</a:t>
            </a:r>
            <a:r>
              <a:rPr lang="pl-PL" dirty="0">
                <a:cs typeface="Segoe UI"/>
              </a:rPr>
              <a:t> </a:t>
            </a:r>
            <a:r>
              <a:rPr lang="pl-PL" dirty="0" err="1">
                <a:cs typeface="Segoe UI"/>
              </a:rPr>
              <a:t>models</a:t>
            </a:r>
            <a:r>
              <a:rPr lang="pl-PL" dirty="0">
                <a:cs typeface="Segoe UI"/>
              </a:rPr>
              <a:t> for </a:t>
            </a:r>
            <a:r>
              <a:rPr lang="pl-PL" dirty="0" err="1">
                <a:cs typeface="Segoe UI"/>
              </a:rPr>
              <a:t>each</a:t>
            </a:r>
            <a:r>
              <a:rPr lang="pl-PL" dirty="0">
                <a:cs typeface="Segoe UI"/>
              </a:rPr>
              <a:t> region</a:t>
            </a:r>
            <a:endParaRPr lang="pl-PL" dirty="0" err="1"/>
          </a:p>
        </p:txBody>
      </p:sp>
      <p:graphicFrame>
        <p:nvGraphicFramePr>
          <p:cNvPr id="3" name="Wykres 2">
            <a:extLst>
              <a:ext uri="{FF2B5EF4-FFF2-40B4-BE49-F238E27FC236}">
                <a16:creationId xmlns:a16="http://schemas.microsoft.com/office/drawing/2014/main" id="{400DB43E-4299-60AC-34B0-0808DB0D3F0D}"/>
              </a:ext>
            </a:extLst>
          </p:cNvPr>
          <p:cNvGraphicFramePr/>
          <p:nvPr>
            <p:extLst>
              <p:ext uri="{D42A27DB-BD31-4B8C-83A1-F6EECF244321}">
                <p14:modId xmlns:p14="http://schemas.microsoft.com/office/powerpoint/2010/main" val="1391773352"/>
              </p:ext>
            </p:extLst>
          </p:nvPr>
        </p:nvGraphicFramePr>
        <p:xfrm>
          <a:off x="659027" y="1530779"/>
          <a:ext cx="5436974" cy="46099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Wykres 3">
            <a:extLst>
              <a:ext uri="{FF2B5EF4-FFF2-40B4-BE49-F238E27FC236}">
                <a16:creationId xmlns:a16="http://schemas.microsoft.com/office/drawing/2014/main" id="{200189D9-A577-DF3E-98E8-774025E5BB5B}"/>
              </a:ext>
              <a:ext uri="{147F2762-F138-4A5C-976F-8EAC2B608ADB}">
                <a16:predDERef xmlns:a16="http://schemas.microsoft.com/office/drawing/2014/main" pred="{9A886377-0C1F-048B-59F7-84FD2A006890}"/>
              </a:ext>
            </a:extLst>
          </p:cNvPr>
          <p:cNvGraphicFramePr>
            <a:graphicFrameLocks/>
          </p:cNvGraphicFramePr>
          <p:nvPr>
            <p:extLst>
              <p:ext uri="{D42A27DB-BD31-4B8C-83A1-F6EECF244321}">
                <p14:modId xmlns:p14="http://schemas.microsoft.com/office/powerpoint/2010/main" val="3909404318"/>
              </p:ext>
            </p:extLst>
          </p:nvPr>
        </p:nvGraphicFramePr>
        <p:xfrm>
          <a:off x="6092011" y="1430039"/>
          <a:ext cx="6012848" cy="46173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8973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7E6F-3FCD-0F9C-F5E1-58C3FFC85E02}"/>
              </a:ext>
            </a:extLst>
          </p:cNvPr>
          <p:cNvSpPr>
            <a:spLocks noGrp="1"/>
          </p:cNvSpPr>
          <p:nvPr>
            <p:ph type="title"/>
          </p:nvPr>
        </p:nvSpPr>
        <p:spPr/>
        <p:txBody>
          <a:bodyPr>
            <a:noAutofit/>
          </a:bodyPr>
          <a:lstStyle/>
          <a:p>
            <a:r>
              <a:rPr lang="pl-PL" sz="3600" err="1"/>
              <a:t>Conclusion</a:t>
            </a:r>
            <a:endParaRPr lang="pl-PL" sz="3600"/>
          </a:p>
        </p:txBody>
      </p:sp>
      <p:sp>
        <p:nvSpPr>
          <p:cNvPr id="3" name="TextBox 2">
            <a:extLst>
              <a:ext uri="{FF2B5EF4-FFF2-40B4-BE49-F238E27FC236}">
                <a16:creationId xmlns:a16="http://schemas.microsoft.com/office/drawing/2014/main" id="{98D60087-A0D3-DDD4-2D67-0BAF919DE23C}"/>
              </a:ext>
            </a:extLst>
          </p:cNvPr>
          <p:cNvSpPr txBox="1"/>
          <p:nvPr/>
        </p:nvSpPr>
        <p:spPr>
          <a:xfrm>
            <a:off x="444500" y="1679289"/>
            <a:ext cx="10149352" cy="39703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pl-PL" sz="2800" dirty="0" err="1">
                <a:cs typeface="Segoe UI"/>
              </a:rPr>
              <a:t>Samples</a:t>
            </a:r>
            <a:r>
              <a:rPr lang="pl-PL" sz="2800" dirty="0">
                <a:cs typeface="Segoe UI"/>
              </a:rPr>
              <a:t> </a:t>
            </a:r>
            <a:r>
              <a:rPr lang="pl-PL" sz="2800" dirty="0" err="1">
                <a:cs typeface="Segoe UI"/>
              </a:rPr>
              <a:t>which</a:t>
            </a:r>
            <a:r>
              <a:rPr lang="pl-PL" sz="2800" dirty="0">
                <a:cs typeface="Segoe UI"/>
              </a:rPr>
              <a:t> </a:t>
            </a:r>
            <a:r>
              <a:rPr lang="pl-PL" sz="2800" dirty="0" err="1">
                <a:cs typeface="Segoe UI"/>
              </a:rPr>
              <a:t>includes</a:t>
            </a:r>
            <a:r>
              <a:rPr lang="pl-PL" sz="2800" dirty="0">
                <a:cs typeface="Segoe UI"/>
              </a:rPr>
              <a:t> </a:t>
            </a:r>
            <a:r>
              <a:rPr lang="pl-PL" sz="2800" dirty="0" err="1">
                <a:cs typeface="Segoe UI"/>
              </a:rPr>
              <a:t>nulls</a:t>
            </a:r>
            <a:r>
              <a:rPr lang="pl-PL" sz="2800" dirty="0">
                <a:cs typeface="Segoe UI"/>
              </a:rPr>
              <a:t> data </a:t>
            </a:r>
            <a:r>
              <a:rPr lang="pl-PL" sz="2800" dirty="0" err="1">
                <a:cs typeface="Segoe UI"/>
              </a:rPr>
              <a:t>should</a:t>
            </a:r>
            <a:r>
              <a:rPr lang="pl-PL" sz="2800" dirty="0">
                <a:cs typeface="Segoe UI"/>
              </a:rPr>
              <a:t> be </a:t>
            </a:r>
            <a:r>
              <a:rPr lang="pl-PL" sz="2800" dirty="0" err="1">
                <a:cs typeface="Segoe UI"/>
              </a:rPr>
              <a:t>removed</a:t>
            </a:r>
            <a:r>
              <a:rPr lang="pl-PL" sz="2800" dirty="0">
                <a:cs typeface="Segoe UI"/>
              </a:rPr>
              <a:t> </a:t>
            </a:r>
          </a:p>
          <a:p>
            <a:pPr marL="285750" indent="-285750">
              <a:buFont typeface="Arial" panose="020B0604020202020204" pitchFamily="34" charset="0"/>
              <a:buChar char="•"/>
            </a:pPr>
            <a:r>
              <a:rPr lang="pl-PL" sz="2800" dirty="0">
                <a:cs typeface="Segoe UI"/>
              </a:rPr>
              <a:t>The </a:t>
            </a:r>
            <a:r>
              <a:rPr lang="pl-PL" sz="2800" dirty="0" err="1">
                <a:cs typeface="Segoe UI"/>
              </a:rPr>
              <a:t>outliners</a:t>
            </a:r>
            <a:r>
              <a:rPr lang="pl-PL" sz="2800" dirty="0">
                <a:cs typeface="Segoe UI"/>
              </a:rPr>
              <a:t> of </a:t>
            </a:r>
            <a:r>
              <a:rPr lang="pl-PL" sz="2800" dirty="0" err="1">
                <a:cs typeface="Segoe UI"/>
              </a:rPr>
              <a:t>targets</a:t>
            </a:r>
            <a:r>
              <a:rPr lang="pl-PL" sz="2800" dirty="0">
                <a:cs typeface="Segoe UI"/>
              </a:rPr>
              <a:t> </a:t>
            </a:r>
            <a:r>
              <a:rPr lang="pl-PL" sz="2800" dirty="0" err="1">
                <a:cs typeface="Segoe UI"/>
              </a:rPr>
              <a:t>should</a:t>
            </a:r>
            <a:r>
              <a:rPr lang="pl-PL" sz="2800" dirty="0">
                <a:cs typeface="Segoe UI"/>
              </a:rPr>
              <a:t> be </a:t>
            </a:r>
            <a:r>
              <a:rPr lang="pl-PL" sz="2800" dirty="0" err="1">
                <a:cs typeface="Segoe UI"/>
              </a:rPr>
              <a:t>always</a:t>
            </a:r>
            <a:r>
              <a:rPr lang="pl-PL" sz="2800" dirty="0">
                <a:cs typeface="Segoe UI"/>
              </a:rPr>
              <a:t> </a:t>
            </a:r>
            <a:r>
              <a:rPr lang="pl-PL" sz="2800" dirty="0" err="1">
                <a:cs typeface="Segoe UI"/>
              </a:rPr>
              <a:t>removed</a:t>
            </a:r>
            <a:r>
              <a:rPr lang="pl-PL" sz="2800" dirty="0">
                <a:cs typeface="Segoe UI"/>
              </a:rPr>
              <a:t> </a:t>
            </a:r>
            <a:r>
              <a:rPr lang="pl-PL" sz="2800" dirty="0" err="1">
                <a:cs typeface="Segoe UI"/>
              </a:rPr>
              <a:t>if</a:t>
            </a:r>
            <a:r>
              <a:rPr lang="pl-PL" sz="2800" dirty="0">
                <a:cs typeface="Segoe UI"/>
              </a:rPr>
              <a:t> we </a:t>
            </a:r>
            <a:r>
              <a:rPr lang="pl-PL" sz="2800" dirty="0" err="1">
                <a:cs typeface="Segoe UI"/>
              </a:rPr>
              <a:t>have</a:t>
            </a:r>
            <a:r>
              <a:rPr lang="pl-PL" sz="2800" dirty="0">
                <a:cs typeface="Segoe UI"/>
              </a:rPr>
              <a:t> </a:t>
            </a:r>
            <a:r>
              <a:rPr lang="pl-PL" sz="2800" dirty="0" err="1">
                <a:cs typeface="Segoe UI"/>
              </a:rPr>
              <a:t>enought</a:t>
            </a:r>
            <a:r>
              <a:rPr lang="pl-PL" sz="2800" dirty="0">
                <a:cs typeface="Segoe UI"/>
              </a:rPr>
              <a:t> data </a:t>
            </a:r>
          </a:p>
          <a:p>
            <a:pPr marL="285750" indent="-285750">
              <a:buFont typeface="Arial" panose="020B0604020202020204" pitchFamily="34" charset="0"/>
              <a:buChar char="•"/>
            </a:pPr>
            <a:r>
              <a:rPr lang="pl-PL" sz="2800" dirty="0" err="1">
                <a:cs typeface="Segoe UI"/>
              </a:rPr>
              <a:t>It's</a:t>
            </a:r>
            <a:r>
              <a:rPr lang="pl-PL" sz="2800" dirty="0">
                <a:cs typeface="Segoe UI"/>
              </a:rPr>
              <a:t> </a:t>
            </a:r>
            <a:r>
              <a:rPr lang="pl-PL" sz="2800" dirty="0" err="1">
                <a:cs typeface="Segoe UI"/>
              </a:rPr>
              <a:t>crucial</a:t>
            </a:r>
            <a:r>
              <a:rPr lang="pl-PL" sz="2800" dirty="0">
                <a:cs typeface="Segoe UI"/>
              </a:rPr>
              <a:t> to </a:t>
            </a:r>
            <a:r>
              <a:rPr lang="pl-PL" sz="2800" dirty="0" err="1">
                <a:cs typeface="Segoe UI"/>
              </a:rPr>
              <a:t>recognaize</a:t>
            </a:r>
            <a:r>
              <a:rPr lang="pl-PL" sz="2800" dirty="0">
                <a:cs typeface="Segoe UI"/>
              </a:rPr>
              <a:t> </a:t>
            </a:r>
            <a:r>
              <a:rPr lang="pl-PL" sz="2800" dirty="0">
                <a:solidFill>
                  <a:srgbClr val="000000"/>
                </a:solidFill>
                <a:latin typeface="Segoe UI"/>
                <a:cs typeface="Segoe UI"/>
              </a:rPr>
              <a:t>the </a:t>
            </a:r>
            <a:r>
              <a:rPr lang="pl-PL" sz="2800" dirty="0" err="1">
                <a:solidFill>
                  <a:srgbClr val="000000"/>
                </a:solidFill>
                <a:latin typeface="Segoe UI"/>
                <a:cs typeface="Segoe UI"/>
              </a:rPr>
              <a:t>type</a:t>
            </a:r>
            <a:r>
              <a:rPr lang="pl-PL" sz="2800" dirty="0">
                <a:solidFill>
                  <a:srgbClr val="000000"/>
                </a:solidFill>
                <a:latin typeface="Segoe UI"/>
                <a:cs typeface="Segoe UI"/>
              </a:rPr>
              <a:t> of data and </a:t>
            </a:r>
            <a:r>
              <a:rPr lang="pl-PL" sz="2800" dirty="0" err="1">
                <a:solidFill>
                  <a:srgbClr val="000000"/>
                </a:solidFill>
                <a:latin typeface="Segoe UI"/>
                <a:cs typeface="Segoe UI"/>
              </a:rPr>
              <a:t>don't</a:t>
            </a:r>
            <a:r>
              <a:rPr lang="pl-PL" sz="2800" dirty="0">
                <a:solidFill>
                  <a:srgbClr val="000000"/>
                </a:solidFill>
                <a:latin typeface="Segoe UI"/>
                <a:cs typeface="Segoe UI"/>
              </a:rPr>
              <a:t> </a:t>
            </a:r>
            <a:r>
              <a:rPr lang="pl-PL" sz="2800" dirty="0" err="1">
                <a:solidFill>
                  <a:srgbClr val="000000"/>
                </a:solidFill>
                <a:latin typeface="Segoe UI"/>
                <a:cs typeface="Segoe UI"/>
              </a:rPr>
              <a:t>tread</a:t>
            </a:r>
            <a:r>
              <a:rPr lang="pl-PL" sz="2800" dirty="0">
                <a:solidFill>
                  <a:srgbClr val="000000"/>
                </a:solidFill>
                <a:latin typeface="Segoe UI"/>
                <a:cs typeface="Segoe UI"/>
              </a:rPr>
              <a:t> </a:t>
            </a:r>
            <a:r>
              <a:rPr lang="pl-PL" sz="2800" dirty="0" err="1">
                <a:solidFill>
                  <a:srgbClr val="000000"/>
                </a:solidFill>
                <a:latin typeface="Segoe UI"/>
                <a:cs typeface="Segoe UI"/>
              </a:rPr>
              <a:t>targets</a:t>
            </a:r>
            <a:r>
              <a:rPr lang="pl-PL" sz="2800" dirty="0">
                <a:solidFill>
                  <a:srgbClr val="000000"/>
                </a:solidFill>
                <a:latin typeface="Segoe UI"/>
                <a:cs typeface="Segoe UI"/>
              </a:rPr>
              <a:t> </a:t>
            </a:r>
            <a:r>
              <a:rPr lang="pl-PL" sz="2800" dirty="0" err="1">
                <a:solidFill>
                  <a:srgbClr val="000000"/>
                </a:solidFill>
                <a:latin typeface="Segoe UI"/>
                <a:cs typeface="Segoe UI"/>
              </a:rPr>
              <a:t>like</a:t>
            </a:r>
            <a:r>
              <a:rPr lang="pl-PL" sz="2800" dirty="0">
                <a:solidFill>
                  <a:srgbClr val="000000"/>
                </a:solidFill>
                <a:latin typeface="Segoe UI"/>
                <a:cs typeface="Segoe UI"/>
              </a:rPr>
              <a:t> a </a:t>
            </a:r>
            <a:r>
              <a:rPr lang="pl-PL" sz="2800" dirty="0" err="1">
                <a:solidFill>
                  <a:srgbClr val="000000"/>
                </a:solidFill>
                <a:latin typeface="Segoe UI"/>
                <a:cs typeface="Segoe UI"/>
              </a:rPr>
              <a:t>features</a:t>
            </a:r>
            <a:r>
              <a:rPr lang="pl-PL" sz="2800" dirty="0">
                <a:solidFill>
                  <a:srgbClr val="000000"/>
                </a:solidFill>
                <a:latin typeface="Segoe UI"/>
                <a:cs typeface="Segoe UI"/>
              </a:rPr>
              <a:t> </a:t>
            </a:r>
            <a:endParaRPr lang="pl-PL" sz="2800" dirty="0">
              <a:solidFill>
                <a:srgbClr val="000000"/>
              </a:solidFill>
              <a:latin typeface="Segoe UI"/>
            </a:endParaRPr>
          </a:p>
          <a:p>
            <a:pPr marL="285750" indent="-285750">
              <a:buFont typeface="Arial" panose="020B0604020202020204" pitchFamily="34" charset="0"/>
              <a:buChar char="•"/>
            </a:pPr>
            <a:r>
              <a:rPr lang="pl-PL" sz="2800" dirty="0" err="1">
                <a:cs typeface="Segoe UI"/>
              </a:rPr>
              <a:t>Important</a:t>
            </a:r>
            <a:r>
              <a:rPr lang="pl-PL" sz="2800" dirty="0">
                <a:cs typeface="Segoe UI"/>
              </a:rPr>
              <a:t> to </a:t>
            </a:r>
            <a:r>
              <a:rPr lang="pl-PL" sz="2800" dirty="0" err="1">
                <a:cs typeface="Segoe UI"/>
              </a:rPr>
              <a:t>choose</a:t>
            </a:r>
            <a:r>
              <a:rPr lang="pl-PL" sz="2800" dirty="0">
                <a:cs typeface="Segoe UI"/>
              </a:rPr>
              <a:t> </a:t>
            </a:r>
            <a:r>
              <a:rPr lang="pl-PL" sz="2800" dirty="0" err="1">
                <a:cs typeface="Segoe UI"/>
              </a:rPr>
              <a:t>good</a:t>
            </a:r>
            <a:r>
              <a:rPr lang="pl-PL" sz="2800" dirty="0">
                <a:cs typeface="Segoe UI"/>
              </a:rPr>
              <a:t> </a:t>
            </a:r>
            <a:r>
              <a:rPr lang="pl-PL" sz="2800" dirty="0" err="1">
                <a:cs typeface="Segoe UI"/>
              </a:rPr>
              <a:t>models</a:t>
            </a:r>
            <a:r>
              <a:rPr lang="pl-PL" sz="2800" dirty="0">
                <a:cs typeface="Segoe UI"/>
              </a:rPr>
              <a:t> for </a:t>
            </a:r>
            <a:r>
              <a:rPr lang="pl-PL" sz="2800" dirty="0" err="1">
                <a:cs typeface="Segoe UI"/>
              </a:rPr>
              <a:t>our</a:t>
            </a:r>
            <a:r>
              <a:rPr lang="pl-PL" sz="2800" dirty="0">
                <a:cs typeface="Segoe UI"/>
              </a:rPr>
              <a:t> </a:t>
            </a:r>
            <a:r>
              <a:rPr lang="pl-PL" sz="2800" dirty="0" err="1">
                <a:cs typeface="Segoe UI"/>
              </a:rPr>
              <a:t>datas</a:t>
            </a:r>
            <a:endParaRPr lang="pl-PL" sz="2800" dirty="0" err="1">
              <a:solidFill>
                <a:srgbClr val="000000"/>
              </a:solidFill>
              <a:latin typeface="Segoe UI"/>
              <a:cs typeface="Segoe UI"/>
            </a:endParaRPr>
          </a:p>
          <a:p>
            <a:pPr marL="285750" indent="-285750">
              <a:buFont typeface="Arial" panose="020B0604020202020204" pitchFamily="34" charset="0"/>
              <a:buChar char="•"/>
            </a:pPr>
            <a:r>
              <a:rPr lang="pl-PL" sz="2800" dirty="0">
                <a:cs typeface="Segoe UI"/>
              </a:rPr>
              <a:t>The most </a:t>
            </a:r>
            <a:r>
              <a:rPr lang="pl-PL" sz="2800" dirty="0" err="1">
                <a:cs typeface="Segoe UI"/>
              </a:rPr>
              <a:t>complex</a:t>
            </a:r>
            <a:r>
              <a:rPr lang="pl-PL" sz="2800" dirty="0">
                <a:cs typeface="Segoe UI"/>
              </a:rPr>
              <a:t> model </a:t>
            </a:r>
            <a:r>
              <a:rPr lang="pl-PL" sz="2800" dirty="0" err="1">
                <a:cs typeface="Segoe UI"/>
              </a:rPr>
              <a:t>is</a:t>
            </a:r>
            <a:r>
              <a:rPr lang="pl-PL" sz="2800" dirty="0">
                <a:cs typeface="Segoe UI"/>
              </a:rPr>
              <a:t> </a:t>
            </a:r>
            <a:r>
              <a:rPr lang="pl-PL" sz="2800" dirty="0" err="1">
                <a:cs typeface="Segoe UI"/>
              </a:rPr>
              <a:t>worthless</a:t>
            </a:r>
            <a:r>
              <a:rPr lang="pl-PL" sz="2800" dirty="0">
                <a:cs typeface="Segoe UI"/>
              </a:rPr>
              <a:t> </a:t>
            </a:r>
            <a:r>
              <a:rPr lang="pl-PL" sz="2800" dirty="0" err="1">
                <a:solidFill>
                  <a:srgbClr val="000000"/>
                </a:solidFill>
                <a:latin typeface="Segoe UI"/>
                <a:cs typeface="Segoe UI"/>
              </a:rPr>
              <a:t>without</a:t>
            </a:r>
            <a:r>
              <a:rPr lang="pl-PL" sz="2800" dirty="0">
                <a:solidFill>
                  <a:srgbClr val="000000"/>
                </a:solidFill>
                <a:latin typeface="Segoe UI"/>
                <a:cs typeface="Segoe UI"/>
              </a:rPr>
              <a:t> the </a:t>
            </a:r>
            <a:r>
              <a:rPr lang="pl-PL" sz="2800" dirty="0" err="1">
                <a:solidFill>
                  <a:srgbClr val="000000"/>
                </a:solidFill>
                <a:latin typeface="Segoe UI"/>
                <a:cs typeface="Segoe UI"/>
              </a:rPr>
              <a:t>appropriate</a:t>
            </a:r>
            <a:r>
              <a:rPr lang="pl-PL" sz="2800" dirty="0">
                <a:solidFill>
                  <a:srgbClr val="000000"/>
                </a:solidFill>
                <a:latin typeface="Segoe UI"/>
                <a:cs typeface="Segoe UI"/>
              </a:rPr>
              <a:t> </a:t>
            </a:r>
            <a:r>
              <a:rPr lang="pl-PL" sz="2800" dirty="0" err="1">
                <a:solidFill>
                  <a:srgbClr val="000000"/>
                </a:solidFill>
                <a:latin typeface="Segoe UI"/>
                <a:cs typeface="Segoe UI"/>
              </a:rPr>
              <a:t>parameters</a:t>
            </a:r>
            <a:endParaRPr lang="pl-PL" sz="2800" dirty="0">
              <a:solidFill>
                <a:srgbClr val="000000"/>
              </a:solidFill>
              <a:latin typeface="Segoe UI"/>
              <a:cs typeface="Segoe UI"/>
            </a:endParaRPr>
          </a:p>
          <a:p>
            <a:pPr marL="285750" indent="-285750">
              <a:buFont typeface="Arial" panose="020B0604020202020204" pitchFamily="34" charset="0"/>
              <a:buChar char="•"/>
            </a:pPr>
            <a:endParaRPr lang="pl-PL" sz="2800" dirty="0">
              <a:cs typeface="Segoe UI"/>
            </a:endParaRPr>
          </a:p>
        </p:txBody>
      </p:sp>
    </p:spTree>
    <p:extLst>
      <p:ext uri="{BB962C8B-B14F-4D97-AF65-F5344CB8AC3E}">
        <p14:creationId xmlns:p14="http://schemas.microsoft.com/office/powerpoint/2010/main" val="4222332847"/>
      </p:ext>
    </p:extLst>
  </p:cSld>
  <p:clrMapOvr>
    <a:masterClrMapping/>
  </p:clrMapOvr>
</p:sld>
</file>

<file path=ppt/theme/theme1.xml><?xml version="1.0" encoding="utf-8"?>
<a:theme xmlns:a="http://schemas.openxmlformats.org/drawingml/2006/main" name="WelcomeDoc">
  <a:themeElements>
    <a:clrScheme name="Custom 1">
      <a:dk1>
        <a:srgbClr val="000000"/>
      </a:dk1>
      <a:lt1>
        <a:srgbClr val="FFFFFF"/>
      </a:lt1>
      <a:dk2>
        <a:srgbClr val="44546A"/>
      </a:dk2>
      <a:lt2>
        <a:srgbClr val="E7E6E6"/>
      </a:lt2>
      <a:accent1>
        <a:srgbClr val="4472C4"/>
      </a:accent1>
      <a:accent2>
        <a:srgbClr val="CF3D1C"/>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889724_Win32" id="{A47D2243-58B7-4EA1-AC61-F4DDB07AC155}" vid="{5B84BEAD-BCA6-42F5-9270-6ECA397995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FB6FBE4-5ACD-4115-9139-635E82C3D35A}">
  <ds:schemaRefs>
    <ds:schemaRef ds:uri="http://schemas.microsoft.com/sharepoint/v3/contenttype/forms"/>
  </ds:schemaRefs>
</ds:datastoreItem>
</file>

<file path=customXml/itemProps2.xml><?xml version="1.0" encoding="utf-8"?>
<ds:datastoreItem xmlns:ds="http://schemas.openxmlformats.org/officeDocument/2006/customXml" ds:itemID="{D0C6F549-03FF-4828-9BD8-8F40C0A2B2BD}">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7EFEE82-03DD-4F90-81E2-2AF29E1D81FB}">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924</Words>
  <Application>Microsoft Office PowerPoint</Application>
  <PresentationFormat>Panoramiczny</PresentationFormat>
  <Paragraphs>95</Paragraphs>
  <Slides>13</Slides>
  <Notes>10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13</vt:i4>
      </vt:variant>
    </vt:vector>
  </HeadingPairs>
  <TitlesOfParts>
    <vt:vector size="18" baseType="lpstr">
      <vt:lpstr>Arial</vt:lpstr>
      <vt:lpstr>Calibri</vt:lpstr>
      <vt:lpstr>Courier New</vt:lpstr>
      <vt:lpstr>Segoe UI</vt:lpstr>
      <vt:lpstr>WelcomeDoc</vt:lpstr>
      <vt:lpstr>Wave Energy Converters Dataset </vt:lpstr>
      <vt:lpstr>Dataset Overwiew</vt:lpstr>
      <vt:lpstr>Prezentacja programu PowerPoint</vt:lpstr>
      <vt:lpstr>Project Purpose</vt:lpstr>
      <vt:lpstr>Data cleaning process</vt:lpstr>
      <vt:lpstr>Prezentacja programu PowerPoint</vt:lpstr>
      <vt:lpstr>Correlation analysis</vt:lpstr>
      <vt:lpstr>Correlation histograms</vt:lpstr>
      <vt:lpstr>Model construction</vt:lpstr>
      <vt:lpstr>Comparison of expected and actual power all values in Adelide</vt:lpstr>
      <vt:lpstr>Validation Results</vt:lpstr>
      <vt:lpstr>Results of best models for each region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Jakub Poznański</dc:creator>
  <cp:keywords/>
  <cp:lastModifiedBy>Jakub Poznański</cp:lastModifiedBy>
  <cp:revision>72</cp:revision>
  <dcterms:created xsi:type="dcterms:W3CDTF">2024-11-25T18:07:18Z</dcterms:created>
  <dcterms:modified xsi:type="dcterms:W3CDTF">2025-03-31T14:29:39Z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